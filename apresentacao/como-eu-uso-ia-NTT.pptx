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239" r:id="rId1"/>
    <p:sldMasterId id="2147484075" r:id="rId2"/>
    <p:sldMasterId id="2147484065" r:id="rId3"/>
    <p:sldMasterId id="2147484182" r:id="rId4"/>
    <p:sldMasterId id="2147484229" r:id="rId5"/>
    <p:sldMasterId id="2147484150" r:id="rId6"/>
    <p:sldMasterId id="2147484154" r:id="rId7"/>
    <p:sldMasterId id="2147484045" r:id="rId8"/>
    <p:sldMasterId id="2147484054" r:id="rId9"/>
    <p:sldMasterId id="2147484203" r:id="rId10"/>
    <p:sldMasterId id="2147484224" r:id="rId11"/>
    <p:sldMasterId id="2147484171" r:id="rId12"/>
    <p:sldMasterId id="2147484175" r:id="rId13"/>
    <p:sldMasterId id="2147484234" r:id="rId14"/>
  </p:sldMasterIdLst>
  <p:notesMasterIdLst>
    <p:notesMasterId r:id="rId24"/>
  </p:notesMasterIdLst>
  <p:handoutMasterIdLst>
    <p:handoutMasterId r:id="rId25"/>
  </p:handoutMasterIdLst>
  <p:sldIdLst>
    <p:sldId id="2147481328" r:id="rId16"/>
    <p:sldId id="2147481329" r:id="rId23"/>
    <p:sldId id="2147481330" r:id="rId22"/>
    <p:sldId id="2147481331" r:id="rId21"/>
    <p:sldId id="2147481332" r:id="rId20"/>
    <p:sldId id="2147481333" r:id="rId19"/>
    <p:sldId id="2147481334" r:id="rId18"/>
    <p:sldId id="2147481335" r:id="rId17"/>
    <p:sldId id="2147481336" r:id="rId15"/>
    <p:sldId id="2147481337" r:id="rId33"/>
    <p:sldId id="2147481338" r:id="rId34"/>
    <p:sldId id="2147481339" r:id="rId35"/>
    <p:sldId id="2147481340" r:id="rId36"/>
    <p:sldId id="2147481341" r:id="rId37"/>
    <p:sldId id="2147481342" r:id="rId38"/>
    <p:sldId id="2147481343" r:id="rId39"/>
    <p:sldId id="2147481344" r:id="rId40"/>
    <p:sldId id="2147481345" r:id="rId41"/>
    <p:sldId id="2147481346" r:id="rId42"/>
    <p:sldId id="2147481347" r:id="rId43"/>
    <p:sldId id="2147481348" r:id="rId44"/>
    <p:sldId id="214748134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19A3FC"/>
    <a:srgbClr val="000000"/>
    <a:srgbClr val="050D24"/>
    <a:srgbClr val="FFFFFF"/>
    <a:srgbClr val="0072BC"/>
    <a:srgbClr val="009AA4"/>
    <a:srgbClr val="007076"/>
    <a:srgbClr val="2E404D"/>
    <a:srgbClr val="E4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54" autoAdjust="0"/>
  </p:normalViewPr>
  <p:slideViewPr>
    <p:cSldViewPr>
      <p:cViewPr varScale="1">
        <p:scale>
          <a:sx n="94" d="100"/>
          <a:sy n="94" d="100"/>
        </p:scale>
        <p:origin x="90" y="606"/>
      </p:cViewPr>
      <p:guideLst>
        <p:guide orient="horz" pos="2160"/>
        <p:guide pos="3840"/>
        <p:guide pos="240"/>
        <p:guide pos="7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9.xml"/><Relationship Id="rId16" Type="http://schemas.openxmlformats.org/officeDocument/2006/relationships/slide" Target="slides/slide900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4.xml"/><Relationship Id="rId22" Type="http://schemas.openxmlformats.org/officeDocument/2006/relationships/slide" Target="slides/slide3.xml"/><Relationship Id="rId23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customXml" Target="../customXml/item1.xml"/><Relationship Id="rId31" Type="http://schemas.openxmlformats.org/officeDocument/2006/relationships/customXml" Target="../customXml/item2.xml"/><Relationship Id="rId32" Type="http://schemas.openxmlformats.org/officeDocument/2006/relationships/customXml" Target="../customXml/item3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1/5/2026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Enquadramento: isto nao e treinamento de ferramenta. Metade do tempo e de voces: 30 min de fala, 30 de conversa.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Baixar a guarda da plateia. Deixar claro que e experiencia, nao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um caso real curto de um dos tres. Vulnerabilidade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central. Se levarem uma frase, e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o ciclo nao e cerimonia: em tarefa pequena cada etapa leva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nao e o custo: as 1.847 linhas irrelevantes disputam atencao com as 6 que importam.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Sugerir que testem hoje numa conversa longa que ja esteja aberta.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 de escrever: 40 segundos. Custo de nao escrever: o review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ao vivo se der tempo: e o item mais facil de copiar.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Armadilhas e a secao de maior valor. Pergunta: o que ja quebrou alguem que entrou agora?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Regra: data absoluta sempre. 'Recentemente' apodrece em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Dizer qual voce usa (Superpowers) como exemplo, nao como recomendacao fechada. O processo custa tokens a mais por sessao; o ganho aparece em nao refazer.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 squad usa Devin, abrir a conversa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Perguntar em qual coluna cai o que eles delegam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a plateia achar os problemas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item de dado de cliente merece pausa se a squad lida com dado regulado.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Passar rapido. Se perguntarem de Devin: nao uso no dia a dia, mas o criterio da matriz vale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pedindo que escolham UMA e tentem essa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travar, comecar pela terceira pergunta: e a mais concreta e sempre destrava.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w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18219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Pa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D957E5C-35D4-A4D9-6D53-531FEABE9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 =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4840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44AC6934-5FBE-FCD3-D1F4-5F0671E877A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 Line">
            <a:extLst>
              <a:ext uri="{FF2B5EF4-FFF2-40B4-BE49-F238E27FC236}">
                <a16:creationId xmlns:a16="http://schemas.microsoft.com/office/drawing/2014/main" id="{8F5AF9E9-1EA9-189A-D454-5A87BA7AE1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7" name="InformationType">
            <a:extLst>
              <a:ext uri="{FF2B5EF4-FFF2-40B4-BE49-F238E27FC236}">
                <a16:creationId xmlns:a16="http://schemas.microsoft.com/office/drawing/2014/main" id="{51B77B86-8916-AB81-4396-509FE36516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0CD6D9D-8D6C-BE0D-BAC6-0180996D77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62482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111A4B15-57F9-BE95-1E63-1DD7D499E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27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C712B74A-36F0-0700-021B-0E4D577E1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-14748"/>
            <a:ext cx="6872748" cy="6872748"/>
          </a:xfrm>
          <a:prstGeom prst="rect">
            <a:avLst/>
          </a:prstGeom>
        </p:spPr>
      </p:pic>
      <p:sp>
        <p:nvSpPr>
          <p:cNvPr id="8" name="Date">
            <a:extLst>
              <a:ext uri="{FF2B5EF4-FFF2-40B4-BE49-F238E27FC236}">
                <a16:creationId xmlns:a16="http://schemas.microsoft.com/office/drawing/2014/main" id="{DDABABA1-E6FD-0810-F91F-B59773C327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6B654ED-CDF8-5D36-81AA-B53B42C4A6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48005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626D85F8-5C60-55E8-F695-C83691B0D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59D0528C-EBEB-7766-EC68-F3FD0FB310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5" name="InformationType">
            <a:extLst>
              <a:ext uri="{FF2B5EF4-FFF2-40B4-BE49-F238E27FC236}">
                <a16:creationId xmlns:a16="http://schemas.microsoft.com/office/drawing/2014/main" id="{2A64F12B-7C56-4867-F7B8-403863A613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2350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novation Curve">
            <a:extLst>
              <a:ext uri="{FF2B5EF4-FFF2-40B4-BE49-F238E27FC236}">
                <a16:creationId xmlns:a16="http://schemas.microsoft.com/office/drawing/2014/main" id="{8C3B28B6-8B9E-C21F-EA6E-AA24B02D8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E681E2B2-C4FC-8ABD-155D-84D4AF640C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BB498D8-977D-85C2-F8A1-6E0E8141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69341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ACBC0284-F137-DEED-F200-AA1951BAC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28431C58-D4D1-9B6E-6814-5BC0AD9AC28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3C177BD4-DCE1-A5B4-1CF2-D4D5631D72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97321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2A174848-155F-5398-089A-999EEC4765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7859DFE-8CF4-4F3D-0EEA-A79E94194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C2B27E61-CB09-FCF3-5814-3387DC265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CAF6B9DB-A1D8-50E6-B765-048745E86E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InformationType">
            <a:extLst>
              <a:ext uri="{FF2B5EF4-FFF2-40B4-BE49-F238E27FC236}">
                <a16:creationId xmlns:a16="http://schemas.microsoft.com/office/drawing/2014/main" id="{66374441-1B2C-85EC-9CC0-86A9446AE7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1235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979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897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1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">
            <a:extLst>
              <a:ext uri="{FF2B5EF4-FFF2-40B4-BE49-F238E27FC236}">
                <a16:creationId xmlns:a16="http://schemas.microsoft.com/office/drawing/2014/main" id="{8BB232A3-2995-9204-E802-F3C30F0CB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89BF2500-0204-6794-6117-9948430692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D7F3AF08-D3FE-D48F-2C81-D85ABE9C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002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274D0AF7-1A05-1559-4931-0828264A6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009628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 Grid">
            <a:extLst>
              <a:ext uri="{FF2B5EF4-FFF2-40B4-BE49-F238E27FC236}">
                <a16:creationId xmlns:a16="http://schemas.microsoft.com/office/drawing/2014/main" id="{5F909AEB-096B-408B-7E00-05020CE6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2447060"/>
            <a:ext cx="3718800" cy="3718800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65000"/>
              </a:schemeClr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Click to add picture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8C7EA28C-8B63-7DD1-EDD6-535B46EC3F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897360E-9D4A-FD52-676D-E4BF4B702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5872B4FB-4C21-1855-289C-D882501BA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53760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F94F6E8-6831-27C9-61B5-A91A50CA57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495800" y="6400800"/>
            <a:ext cx="909320" cy="304799"/>
          </a:xfrm>
          <a:ln w="3175">
            <a:noFill/>
          </a:ln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3F699943-421D-6DD0-F669-4FB43527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79269" y="6400801"/>
            <a:ext cx="2364251" cy="304799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9B54D94D-E040-EB57-692A-F673B1C004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9720" y="6400031"/>
            <a:ext cx="2065880" cy="3048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90114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EE784A98-DD2F-9213-B452-0888E8DA5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07FB7D70-C72D-6A53-CBE5-DAE9C28D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69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92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4" name="Innovation Cuver Over">
            <a:extLst>
              <a:ext uri="{FF2B5EF4-FFF2-40B4-BE49-F238E27FC236}">
                <a16:creationId xmlns:a16="http://schemas.microsoft.com/office/drawing/2014/main" id="{B6F394B1-2E3B-BF77-C553-C0A61B075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63438233-72EE-8BA4-9BBA-043E2EBD661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2" name="Main 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95537A3D-A82B-E164-8992-B04EE50C03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848600" y="3049200"/>
            <a:ext cx="39624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3FB62210-704E-0AA6-FD3C-50952599D5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3273427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4" name="Innovation Curve Over">
            <a:extLst>
              <a:ext uri="{FF2B5EF4-FFF2-40B4-BE49-F238E27FC236}">
                <a16:creationId xmlns:a16="http://schemas.microsoft.com/office/drawing/2014/main" id="{B8631883-9801-E2CA-CA11-CDED97BC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8AC34A6-2AC7-FC55-26A6-E925A628AC5C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8082150-82CC-B102-D30B-562E582481E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43800" y="3049200"/>
            <a:ext cx="42672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8CF5306-C118-5506-EE7B-F7E980B08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5195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novation Curve">
            <a:extLst>
              <a:ext uri="{FF2B5EF4-FFF2-40B4-BE49-F238E27FC236}">
                <a16:creationId xmlns:a16="http://schemas.microsoft.com/office/drawing/2014/main" id="{EDBA60DD-C22A-9316-ED2B-2ACC0A68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4" name="Date">
            <a:extLst>
              <a:ext uri="{FF2B5EF4-FFF2-40B4-BE49-F238E27FC236}">
                <a16:creationId xmlns:a16="http://schemas.microsoft.com/office/drawing/2014/main" id="{D755FCDF-1757-0DDE-B664-6E18DF38351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D1339E27-17FE-46DF-AFFB-73BFB11533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7777627-C09C-D1AD-CBD9-F58394603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821160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8FFE6425-34ED-5DB9-865C-1158B7140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6218" y="-9334"/>
            <a:ext cx="4686799" cy="6867334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40435473-34D1-21A2-6355-15C49B8978D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69342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F59C948C-D3BF-CA4F-F542-ED2CE628FB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E848DEC-7A87-3CD5-E950-EEB6859D9E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545914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59C9CC77-3312-DF50-2217-E80EE44FA30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5B8528D5-DF0F-FF95-7F24-C0763AA92F4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72020407-B4FE-1152-B230-32A0A4A033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1786458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1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505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13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23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1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11744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8326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08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1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5994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4114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57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novation Curve">
            <a:extLst>
              <a:ext uri="{FF2B5EF4-FFF2-40B4-BE49-F238E27FC236}">
                <a16:creationId xmlns:a16="http://schemas.microsoft.com/office/drawing/2014/main" id="{DFF4120D-EB83-4D10-1920-DB2F8C95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077200" y="2438400"/>
            <a:ext cx="3746500" cy="374860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noFill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noFill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30032E3-666E-86B5-7060-5C2D96D8BFA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76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4DA6E1C-9D47-E410-7BE5-64AAE327524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AFFB951-27A9-5EF6-ACC5-3BE5CDB357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5572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novation Curve">
            <a:extLst>
              <a:ext uri="{FF2B5EF4-FFF2-40B4-BE49-F238E27FC236}">
                <a16:creationId xmlns:a16="http://schemas.microsoft.com/office/drawing/2014/main" id="{981C731B-323B-2B27-B941-0443635D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2438400"/>
            <a:ext cx="3739084" cy="3739084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Click to add picture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3D107E1D-6F9E-D5D4-23A0-05F41092BB8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BC88EBEC-A4D1-CC23-6E08-93BFBE3DE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4FEAAAB-EE18-CB5D-44C6-310E6AB57A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233096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299D4CB7-B560-6AA7-879A-088302D3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5800" y="6400801"/>
            <a:ext cx="909320" cy="304800"/>
          </a:xfrm>
          <a:prstGeom prst="rect">
            <a:avLst/>
          </a:prstGeom>
          <a:ln w="3175">
            <a:noFill/>
          </a:ln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A8AAD6E7-7C26-418D-0B14-EA5390FD8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93400" y="6400800"/>
            <a:ext cx="720000" cy="304800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2" name="Legal">
            <a:extLst>
              <a:ext uri="{FF2B5EF4-FFF2-40B4-BE49-F238E27FC236}">
                <a16:creationId xmlns:a16="http://schemas.microsoft.com/office/drawing/2014/main" id="{633C7958-CA9A-A92F-B7E7-8B7973238C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479269" y="6400800"/>
            <a:ext cx="2222011" cy="303168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412A306-2B7E-0534-2F4D-01807ACD92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6400031"/>
            <a:ext cx="175260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3282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F8661FD8-3372-AC27-F2C7-692F6A0DB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2F375C79-AE51-6B41-D9FC-0E2F9917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27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1982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29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005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866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333909" y="2865120"/>
            <a:ext cx="5524182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415921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C3A244F4-DCC8-926C-C40B-97795E7EE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326E4B9D-7B25-6F98-95C6-44F5E186E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CA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80637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2B77F751-4A73-F5B2-46BF-FA8F83187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169877AF-B46D-3BC5-5B99-8D6306414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93E904F-F143-F66C-80F2-44AF6A64563C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3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050D24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04FD1337-5DF6-30A3-4131-6B12D60DB5C4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7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">
            <a:extLst>
              <a:ext uri="{FF2B5EF4-FFF2-40B4-BE49-F238E27FC236}">
                <a16:creationId xmlns:a16="http://schemas.microsoft.com/office/drawing/2014/main" id="{933C1A37-ACD8-D48C-2A9C-184E81D40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393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349E4B0B-2645-B2A3-8226-132DADE9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ED1211A4-6D56-BCC0-9645-3000A06B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1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34BA0EC-9CEF-D6D5-870B-6C584540B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E10867FC-9AA0-D55B-9EAE-A4F0F6197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3C36CBDA-07E1-6588-F97E-5F366DDBDF53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2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">
            <a:extLst>
              <a:ext uri="{FF2B5EF4-FFF2-40B4-BE49-F238E27FC236}">
                <a16:creationId xmlns:a16="http://schemas.microsoft.com/office/drawing/2014/main" id="{1186516B-39F7-0349-EBD6-2E8D804DA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AFA71394-3F9A-5F92-B57D-92D1ABAED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18254DDE-CB0C-92D7-A6B5-768C00414CCB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7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053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EE0929A7-1D82-E58C-7D80-4E5ADC6ECCAE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1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11430000" cy="4572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FCB66863-8379-6B12-AF6C-4FED25C397A8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8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rgbClr val="19A3F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50A5D791-A482-EDEF-8A3C-D4FB9FECC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1"/>
            <a:ext cx="914400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755F9A41-F068-F62B-8D77-AD45E3E7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1"/>
            <a:ext cx="4114801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1"/>
            <a:ext cx="1066800" cy="304799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noProof="0" smtClean="0"/>
            </a:lvl1pPr>
          </a:lstStyle>
          <a:p>
            <a:fld id="{58D24BC2-2B9E-4076-8133-31C4983A0E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61F51151-8636-CEBB-0FAC-0AB69057D5BD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4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FFFFF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A0A625B7-9DEA-C2F4-8B8D-108176C10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801358D-6256-A5EC-0C43-E4F553EC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noProof="0" smtClean="0"/>
            </a:lvl1pPr>
          </a:lstStyle>
          <a:p>
            <a:fld id="{83ADEA99-682E-4231-A4C9-95AE759D37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3670AC95-C36A-F554-275E-8EA8BC640A1F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6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que esta conversa 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691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87452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74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8366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O que NÃO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4828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Treinamento de ferramenta.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Lista de prompts mágicos.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Alguém dizendo que vocês estão fazendo errado.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691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1" y="187452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874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188366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O que 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295144"/>
            <a:ext cx="4828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Práticas que funcionam, com exemplo real.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O caminho até elas — que no meu caso foi caro.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O que dá para aplicar já na segunda.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947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70F26"/>
                </a:solidFill>
                <a:latin typeface="Arial"/>
              </a:rPr>
              <a:t>Se no fim vocês discordarem, ótimo — é para isso que metade do tempo está reservada.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Três erros que custam caro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Os três eram meus. Pela conversa com outras squads, não eram só meus.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74519"/>
            <a:ext cx="420624" cy="420624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1856231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70F26"/>
                </a:solidFill>
                <a:latin typeface="Arial"/>
              </a:rPr>
              <a:t>Colar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7" y="1837943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Log inteiro, arquivo inteiro, “por precaução”.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A intuição de que mais contexto = melhor resposta.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953511"/>
            <a:ext cx="420624" cy="420624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5351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93522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70F26"/>
                </a:solidFill>
                <a:latin typeface="Arial"/>
              </a:rPr>
              <a:t>Pedir vago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2916935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“Otimiza isso aí.”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Volta algo legítimo que não dá para usar.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32503"/>
            <a:ext cx="420624" cy="420624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3250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014215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70F26"/>
                </a:solidFill>
                <a:latin typeface="Arial"/>
              </a:rPr>
              <a:t>Aceitar o que vem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995927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Bem escrito, parece certo, ninguém roda.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Aparece no review — ou em produção.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Nenhum dos três é sobre a ferramenta. Os três são sobre método.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gargalo mudou de lugar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070F26"/>
                </a:solidFill>
                <a:latin typeface="Georgia"/>
              </a:rPr>
              <a:t>Escrever código deixou de ser o gargalo.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072BC"/>
                </a:solidFill>
                <a:latin typeface="Georgia"/>
              </a:rPr>
              <a:t>Decidir o que deve ser construído virou o gargalo.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675"/>
                </a:solidFill>
                <a:latin typeface="Arial"/>
              </a:rPr>
              <a:t>Quando ninguém decide, o modelo decide — por omissão, com confiança.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675"/>
                </a:solidFill>
                <a:latin typeface="Arial"/>
              </a:rPr>
              <a:t>E isso só aparece no code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mesmo, de tarefa pequena a feature grande — só muda o rigor de cada etapa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735" y="2148840"/>
            <a:ext cx="1938528" cy="15544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7735" y="2404872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70F26"/>
                </a:solidFill>
                <a:latin typeface="Arial"/>
              </a:rPr>
              <a:t>ENTENDER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735" y="2807208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ler antes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de pedir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6263" y="2697480"/>
            <a:ext cx="3108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949494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7159" y="2148840"/>
            <a:ext cx="1938528" cy="155448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 w="12700">
            <a:solidFill>
              <a:srgbClr val="0072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7159" y="2404872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ESPECIFICAR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7159" y="2807208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escrever o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critério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687" y="2697480"/>
            <a:ext cx="3108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949494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6583" y="2148840"/>
            <a:ext cx="1938528" cy="15544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6583" y="2404872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70F26"/>
                </a:solidFill>
                <a:latin typeface="Arial"/>
              </a:rPr>
              <a:t>EXECUTAR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6583" y="2807208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pessoa ou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agente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5111" y="2697480"/>
            <a:ext cx="3108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949494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6007" y="2148840"/>
            <a:ext cx="1938528" cy="15544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404872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70F26"/>
                </a:solidFill>
                <a:latin typeface="Arial"/>
              </a:rPr>
              <a:t>VERIFICAR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6007" y="2807208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rodar, não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4535" y="2697480"/>
            <a:ext cx="3108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949494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25431" y="2148840"/>
            <a:ext cx="1938528" cy="15544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5431" y="2404872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70F26"/>
                </a:solidFill>
                <a:latin typeface="Arial"/>
              </a:rPr>
              <a:t>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5431" y="2807208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o que vale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675"/>
                </a:solidFill>
                <a:latin typeface="Arial"/>
              </a:rPr>
              <a:t>pra próxima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148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70F26"/>
                </a:solidFill>
                <a:latin typeface="Arial"/>
              </a:rPr>
              <a:t>A etapa 2 é a que mais se pula — e a única que, quando falha, estraga todas as outras.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O atalho comum — e o meu, por muito tempo: pular de “tenho um problema” direto para “escreve o código”.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23317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0055B6"/>
                </a:solidFill>
                <a:latin typeface="Georgia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7" y="2395728"/>
            <a:ext cx="95216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Antes de pedir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3200400"/>
            <a:ext cx="9521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D6E9F7"/>
                </a:solidFill>
                <a:latin typeface="Arial"/>
              </a:rPr>
              <a:t>A parte que acontece antes de digitar qualquer coisa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Contexto é orçamento, não depósito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Sem 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828031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Aqui o log, me ajuda: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09:14:02 INFO  Starting worker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09:14:02 INFO  Connected redis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  ... (1.847 linhas) ...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09:31:55 ERROR ValueError: inva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  ... (mais 600 linhas)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572768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1" y="1755648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Com recorte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176272"/>
            <a:ext cx="4828031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Erro no worker, ~2% dos registros.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ValueError: invalid literal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  parser.py:42 in parse_row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Já verifiquei: CSV tem células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vazias. Schema não é meu.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Quero vazio -&gt; None, sem engolir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outros erros.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6227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22000"/>
                </a:solidFill>
                <a:latin typeface="Arial"/>
              </a:rPr>
              <a:t>~40.000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446227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55B6"/>
                </a:solidFill>
                <a:latin typeface="Arial"/>
              </a:rPr>
              <a:t>~200 tokens · e resposta melhor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Sessão longa apodrece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Conversa de 3 horas acumula decisão revogada, tentativa abandonada e arquivo velho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874959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031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70F26"/>
                </a:solidFill>
                <a:latin typeface="Arial"/>
              </a:rPr>
              <a:t>O que pedir antes de abrir uma sessão nova: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505456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70F26"/>
                </a:solidFill>
                <a:latin typeface="Courier New"/>
              </a:rPr>
              <a:t>“Escreva um resumo de estado em até 20 linhas: decisões tomadas e o porquê,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70F26"/>
                </a:solidFill>
                <a:latin typeface="Courier New"/>
              </a:rPr>
              <a:t>decisões que DESCARTAMOS e o motivo, arquivos alterados, o que está pendente.”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319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72BC"/>
                </a:solidFill>
                <a:latin typeface="Arial"/>
              </a:rPr>
              <a:t>~90.000 tokens de histórico  →  ~600 de estado útil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26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675"/>
                </a:solidFill>
                <a:latin typeface="Arial"/>
              </a:rPr>
              <a:t>O bloco de decisões descartadas é o que mais economiza: sem ele, a sessão nova propõe de novo tudo que já tinha sido recusado.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23317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0055B6"/>
                </a:solidFill>
                <a:latin typeface="Georgia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7" y="2395728"/>
            <a:ext cx="95216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Como pedir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3200400"/>
            <a:ext cx="9521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D6E9F7"/>
                </a:solidFill>
                <a:latin typeface="Arial"/>
              </a:rPr>
              <a:t>Onde o retorno aparece mais rápido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critério de aceite vai junto com o 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303520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Pedido vago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82803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70F26"/>
                </a:solidFill>
                <a:latin typeface="Courier New"/>
              </a:rPr>
              <a:t>otimiza essa função aqui pra mim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Otimizar em quê? Tempo, memória, número de queries?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 modelo escolhe — e devolve algo legítimo, com async, ORM trocado e assinatura nova.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Não dá pra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72768"/>
            <a:ext cx="5303520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1755648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Pedido com aceite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176272"/>
            <a:ext cx="482803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Suspeita: N+1 no lazy load.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RESTRIÇÕES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manter assinatura e retorno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sem dependência nova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sem async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ACEITE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nº de queries constante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diga quantas antes e 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O pedido errado devolve código. O certo devolve código que entra no PR.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Em tarefa grande: plano antes do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parágrafo que mais poupa retrabalho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6675120" cy="2057400"/>
          </a:xfrm>
          <a:prstGeom prst="roundRect">
            <a:avLst>
              <a:gd name="adj" fmla="val 4000"/>
            </a:avLst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3969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Antes de escrever qualquer código: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1. liste os arquivos que pretende tocar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2. aponte os riscos e o que pode quebrar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3. diga o que você NÃO vai mexer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Pare aí e espere meu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688" y="1956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Por que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414016"/>
            <a:ext cx="3703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Corrigir um plano de 10 linhas custa uma frase.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Corrigir 400 linhas geradas custa a tarefa inteira.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“Não mexe no serializers.py, é contrato público” — o modelo não tinha como saber.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Vale sempre que a tarefa passa de um arquivo.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23317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0055B6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7" y="2395728"/>
            <a:ext cx="95216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O que persistir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3200400"/>
            <a:ext cx="9521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D6E9F7"/>
                </a:solidFill>
                <a:latin typeface="Arial"/>
              </a:rPr>
              <a:t>Contexto morre com a sessão. O que precisa sobreviver vira arquivo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Um arquivo de contexto no repositório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Lido em toda sessão, por todo mundo — então cada linha precisa se pagar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05740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66543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Não entra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8280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“Usamos Python e FastAPI.”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“Os testes ficam em tests/.”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“Escreva código de qualidade.”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 modelo descobre isso em 2 segundos lendo o repo. E o time paga por essas linhas todo 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874519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205740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2057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2066543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Entra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478024"/>
            <a:ext cx="48280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“app/legacy/ está congelado.”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“Nunca chame billing direto — o rate limit é compartilhado e derruba geral.”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“PA = Pedido Antecipado.”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Isso nenhum modelo descobre sozinho.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348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Teste: se a linha pode ser respondida lendo o README, apague.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Onde mora o que o código não conta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Vault de notas, wiki, ADR no repo — a ferramenta importa menos que o formato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01168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2082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Nota-diário (inútil)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32304"/>
            <a:ext cx="482803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“Ontem discutimos o importador.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O pessoal falou que era melhor a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abordagem nova. O João vai olhar.”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Seis meses depois: qual problema?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qual abordagem? “ontem” quando?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8288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201168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2011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202082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Fato, com porquê e validade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432304"/>
            <a:ext cx="482803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“Importação roda em lote noturno.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Por quê: fornecedor limita 100 req/min.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Tempo real derrubava a integração.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Consequência: estoque tem 24h de atraso.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Decidido em 2026-05-20.”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070F26"/>
                </a:solidFill>
                <a:latin typeface="Arial"/>
              </a:rPr>
              <a:t>O título é a afirmação, não o tópico — é por ele que a IA decide se a nota importa.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Método dentro da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que mais muda resultado não é trocar de modelo — é o ciclo deixar de ser opcional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0874959" cy="109728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 w="12700">
            <a:solidFill>
              <a:srgbClr val="0072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21488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O ciclo é imposto: entender → planejar → executar → verificar.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O agente não avança de etapa sem cumprir a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64408"/>
            <a:ext cx="10874959" cy="1097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Sem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3447288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O ciclo é seguido quando dá tempo.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Sob prazo, é a primeira coisa a ser abandonada.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70F26"/>
                </a:solidFill>
                <a:latin typeface="Georgia"/>
              </a:rPr>
              <a:t>Disciplina que depende de alguém lembrar, sob prazo, não é disciplina.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23317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0055B6"/>
                </a:solidFill>
                <a:latin typeface="Georgia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7" y="2395728"/>
            <a:ext cx="95216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Quando delegar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3200400"/>
            <a:ext cx="9521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D6E9F7"/>
                </a:solidFill>
                <a:latin typeface="Arial"/>
              </a:rPr>
              <a:t>O critério vale para qualquer agente autônomo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Na mão · piloto · delega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Decisão que vem antes de abrir a ferramenta, não depois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22000"/>
                </a:solidFill>
                <a:latin typeface="Arial"/>
              </a:rPr>
              <a:t>NA MÃO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Decisão de arquitetura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Trade-off de produto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Código de auth e pagamento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Incidente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7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3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3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Causa desconhecida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Design ainda aberto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Refactor que atravessa módulos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Exploração de alternativas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B941"/>
                </a:solidFill>
                <a:latin typeface="Arial"/>
              </a:rPr>
              <a:t>DELEGA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Migração mecânica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Bug com repro determinístico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Teste faltando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Lint e tipo em massa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262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Delegue o tedioso e verificável. Pilote o ambíguo. Faça na mão o irreversível.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56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rial"/>
              </a:rPr>
              <a:t>A pergunta que resolve quase tudo: existe teste que prova que ficou certo? Se não existe, não delegue.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Um PR que passa no CI e não deve ser aprovado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943600" cy="2651760"/>
          </a:xfrm>
          <a:prstGeom prst="roundRect">
            <a:avLst>
              <a:gd name="adj" fmla="val 4000"/>
            </a:avLst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3949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def parse_row(row) -&gt; int | None: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    return int(row["quantidade"])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    try: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        return int(row["quantidade"])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    except Exception: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        return None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def test_invalido():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    with pytest.raises(ValueError):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def test_invalido():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+     assert parse_row("abc") is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9168" y="16093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CI verde. Três problemas: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210312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except Exception engole tudo — coluna faltando vira None silencioso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o teste antigo foi invertido para passar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e tem um parâmetro de biblioteca que simplesmente não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Ler o diff não é revisar. O segundo item é o mais grave e o mais fácil de passar batido.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974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rial"/>
              </a:rPr>
              <a:t>Atalho: git diff nos testes primeiro. Linha alterada em teste existente exige justificativa escrita.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Onde não usar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Saber onde não usar é metade do ganho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74519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8470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Conta e agregação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288" y="1847088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O modelo estima a partir do texto. Peça a query — a máquina calcula, o número é auditável.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679191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67919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Decisão de 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5176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Serve para levantar alternativas. A escolha é da pessoa — e é onde está o valor dela.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483863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8386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4564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Aprovar o que não se entende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45643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Se não entende cada linha, não aprove. Dívida no dia 1, incidente no dia 90.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288536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88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261103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Dado de cliente e segredo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61103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Nunca no prompt. Anonimize ou use dado sintético. Sem exceção de prazo.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A responsabilidade não é delegável: quem aprova responde. “A IA escreveu” não explica incidente.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Ferramentas, rápido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que eu uso hoje. Menos importante que tudo que veio antes — mas sempre perguntam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210312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onde o trabalho acontece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61488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Superpowers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944368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framework de processo: impõe o ciclo dentro da ferramenta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02736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85615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Obsidian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785615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o que o código não conta: decisão, porquê, regra de negócio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4398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268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Compressão de saída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626864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resposta densa; economiza agora e no histórico 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34924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Trocar de ferramenta não resolve problema de método. Pedido ruim é ruim em qualquer uma.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Três coisas para segunda-feira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Nessa ordem — a primeira sozinha já muda o resultado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221991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167128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Mande o trecho, não o arquivo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532888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Recorte o traceback e diga o que já verificou.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18104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3374136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319272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Diga como você vai saber que ficou certo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685032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Uma linha de critério de aceite, junto com o pedido.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70248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452628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5262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47141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Rode antes de aprovar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837176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Ler o diff não é revisar. Vale para PR de IA e de gente.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Nenhuma das três depende de instalar nada.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Agora é de vocês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Arial"/>
              </a:rPr>
              <a:t>30 minutos. Discordar é o melhor uso desse tempo.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0604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6675"/>
                </a:solidFill>
                <a:latin typeface="Arial"/>
              </a:rPr>
              <a:t>•  Onde isso não vai funcionar no nosso contexto?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6675"/>
                </a:solidFill>
                <a:latin typeface="Arial"/>
              </a:rPr>
              <a:t>•  O que vocês já fazem que o resto do time deveria copiar?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6675"/>
                </a:solidFill>
                <a:latin typeface="Arial"/>
              </a:rPr>
              <a:t>•  Qual tarefa da sprint serviria de teste?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5"/>
                </a:solidFill>
                <a:latin typeface="Arial"/>
              </a:rPr>
              <a:t>Material completo e templates: &lt;link do repositório&gt;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ver Photo" descr="A group of tall buildings">
            <a:extLst>
              <a:ext uri="{FF2B5EF4-FFF2-40B4-BE49-F238E27FC236}">
                <a16:creationId xmlns:a16="http://schemas.microsoft.com/office/drawing/2014/main" id="{D1784304-20CA-2595-A2CF-CFD02E4EF6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" b="81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91235-C283-783D-AF49-E845205D04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E82A2-356B-1BC2-C482-7770727F7B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7C6A72F5-2EAA-30FE-0CD3-202C143C918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1759756-E6FE-4FFA-8F5E-B04C401C52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CA" dirty="0"/>
              <a:t>© 2026 NTT DATA, Inc.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1DBF8-81A7-9FE7-57D3-9CD874C25B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D07AD3-DD8E-6F8A-4838-E3B5AAB6E9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ABDF3ACB-BC28-B46B-FF4A-2BDF0F8083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Práticas que funcionam — contadas pelo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caminho que eu fiz até elas</a:t>
            </a:r>
          </a:p>
        </p:txBody>
      </p:sp>
      <p:sp>
        <p:nvSpPr>
          <p:cNvPr id="9" name="MainTitle">
            <a:extLst>
              <a:ext uri="{FF2B5EF4-FFF2-40B4-BE49-F238E27FC236}">
                <a16:creationId xmlns:a16="http://schemas.microsoft.com/office/drawing/2014/main" id="{E13429DD-7708-C4B2-04F6-88B9AC61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  <a:latin typeface="Georgia"/>
              </a:rPr>
              <a:t>Como eu uso IA</a:t>
            </a:r>
          </a:p>
          <a:p>
            <a:r>
              <a:rPr sz="3400" b="1">
                <a:solidFill>
                  <a:srgbClr val="FFFFFF"/>
                </a:solidFill>
                <a:latin typeface="Georgia"/>
              </a:rPr>
              <a:t>no dia a dia</a:t>
            </a:r>
          </a:p>
        </p:txBody>
      </p:sp>
    </p:spTree>
    <p:extLst>
      <p:ext uri="{BB962C8B-B14F-4D97-AF65-F5344CB8AC3E}">
        <p14:creationId xmlns:p14="http://schemas.microsoft.com/office/powerpoint/2010/main" val="9690551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 - Full Image Background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_DATA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6BFB1022-CB34-4B15-9F3B-8B01968DD371}"/>
    </a:ext>
  </a:extLst>
</a:theme>
</file>

<file path=ppt/theme/theme2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09C1F4FE-3D3D-4E4E-8AC5-C5D92DFDEA59}"/>
    </a:ext>
  </a:extLst>
</a:theme>
</file>

<file path=ppt/theme/theme3.xml><?xml version="1.0" encoding="utf-8"?>
<a:theme xmlns:a="http://schemas.openxmlformats.org/drawingml/2006/main" name="Light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71B2DA3E-2DF6-4D01-A20C-E263381081DA}"/>
    </a:ext>
  </a:extLst>
</a:theme>
</file>

<file path=ppt/theme/theme4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146F23E-B709-4B2D-9758-8EB4940147ED}"/>
    </a:ext>
  </a:extLst>
</a:theme>
</file>

<file path=ppt/theme/theme5.xml><?xml version="1.0" encoding="utf-8"?>
<a:theme xmlns:a="http://schemas.openxmlformats.org/drawingml/2006/main" name="Light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8B19F434-353F-47FF-A1F7-53A0C457C0DD}"/>
    </a:ext>
  </a:extLst>
</a:theme>
</file>

<file path=ppt/theme/theme6.xml><?xml version="1.0" encoding="utf-8"?>
<a:theme xmlns:a="http://schemas.openxmlformats.org/drawingml/2006/main" name="Light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A3869863-12B1-475A-82A5-128864B9801C}"/>
    </a:ext>
  </a:extLst>
</a:theme>
</file>

<file path=ppt/theme/theme7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FE3E34BB-CC1C-46A6-8772-D6CF53A3F2E1}"/>
    </a:ext>
  </a:extLst>
</a:theme>
</file>

<file path=ppt/theme/theme8.xml><?xml version="1.0" encoding="utf-8"?>
<a:theme xmlns:a="http://schemas.openxmlformats.org/drawingml/2006/main" name="Dark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35056FF-E0F1-46A4-9DF3-6BEF71C59CA6}"/>
    </a:ext>
  </a:extLst>
</a:theme>
</file>

<file path=ppt/theme/theme9.xml><?xml version="1.0" encoding="utf-8"?>
<a:theme xmlns:a="http://schemas.openxmlformats.org/drawingml/2006/main" name="Dark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3731407F-107C-4663-813D-98F86288AD69}"/>
    </a:ext>
  </a:extLst>
</a:theme>
</file>

<file path=ppt/theme/theme10.xml><?xml version="1.0" encoding="utf-8"?>
<a:theme xmlns:a="http://schemas.openxmlformats.org/drawingml/2006/main" name="Dark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DF55F6E1-085B-4372-BEEA-3BBE8693FD70}"/>
    </a:ext>
  </a:extLst>
</a:theme>
</file>

<file path=ppt/theme/theme11.xml><?xml version="1.0" encoding="utf-8"?>
<a:theme xmlns:a="http://schemas.openxmlformats.org/drawingml/2006/main" name="Dark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912F9BCC-81CE-43FF-90FC-1CF8A50309CA}"/>
    </a:ext>
  </a:extLst>
</a:theme>
</file>

<file path=ppt/theme/theme12.xml><?xml version="1.0" encoding="utf-8"?>
<a:theme xmlns:a="http://schemas.openxmlformats.org/drawingml/2006/main" name="Dark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A8A71081-93CE-480B-AFBD-21CACF4C03BA}"/>
    </a:ext>
  </a:extLst>
</a:theme>
</file>

<file path=ppt/theme/theme13.xml><?xml version="1.0" encoding="utf-8"?>
<a:theme xmlns:a="http://schemas.openxmlformats.org/drawingml/2006/main" name="Dark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6E35258-F3D7-4B2E-B75B-EFF826EED1C0}"/>
    </a:ext>
  </a:extLst>
</a:theme>
</file>

<file path=ppt/theme/theme14.xml><?xml version="1.0" encoding="utf-8"?>
<a:theme xmlns:a="http://schemas.openxmlformats.org/drawingml/2006/main" name="1_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DB1D71C7-A2A5-436F-AEBF-D0FAA4B45808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T2K" ma:contentTypeID="0x01010040A11AC9A095403B86EC8B98C09708A300B18DC44D3AD07641A07CA18912D9B9CC" ma:contentTypeVersion="13" ma:contentTypeDescription="Create a new document." ma:contentTypeScope="" ma:versionID="bc855f56509cf97448165319407d5802">
  <xsd:schema xmlns:xsd="http://www.w3.org/2001/XMLSchema" xmlns:xs="http://www.w3.org/2001/XMLSchema" xmlns:p="http://schemas.microsoft.com/office/2006/metadata/properties" xmlns:ns1="http://schemas.microsoft.com/sharepoint/v3" xmlns:ns2="e8cafdd4-4528-4476-ab16-00a5750ab81c" xmlns:ns3="f9e5c6ed-a414-487d-8643-813a0aafc40d" targetNamespace="http://schemas.microsoft.com/office/2006/metadata/properties" ma:root="true" ma:fieldsID="73c0290f8439e5b6358291f0f886d336" ns1:_="" ns2:_="" ns3:_="">
    <xsd:import namespace="http://schemas.microsoft.com/sharepoint/v3"/>
    <xsd:import namespace="e8cafdd4-4528-4476-ab16-00a5750ab81c"/>
    <xsd:import namespace="f9e5c6ed-a414-487d-8643-813a0aafc40d"/>
    <xsd:element name="properties">
      <xsd:complexType>
        <xsd:sequence>
          <xsd:element name="documentManagement">
            <xsd:complexType>
              <xsd:all>
                <xsd:element ref="ns2:abe66603087445669b8b2920ee71eaef" minOccurs="0"/>
                <xsd:element ref="ns2:TaxCatchAll" minOccurs="0"/>
                <xsd:element ref="ns2:TaxCatchAllLabel" minOccurs="0"/>
                <xsd:element ref="ns2:fa99d158c7f14474ab98801009d80b56" minOccurs="0"/>
                <xsd:element ref="ns2:TogoImageUrl" minOccurs="0"/>
                <xsd:element ref="ns2:TogoHighlight" minOccurs="0"/>
                <xsd:element ref="ns2:TogoAuthor" minOccurs="0"/>
                <xsd:element ref="ns2:gd3a7737cb0047dc8ce44bed1647af23" minOccurs="0"/>
                <xsd:element ref="ns2:n63ae9402be240f1a4937184116f6bcc" minOccurs="0"/>
                <xsd:element ref="ns2:TogoPublishingDate" minOccurs="0"/>
                <xsd:element ref="ns2:TogoDueDate" minOccurs="0"/>
                <xsd:element ref="ns3:lcf76f155ced4ddcb4097134ff3c332f" minOccurs="0"/>
                <xsd:element ref="ns1:_SPIsTranslation" minOccurs="0"/>
                <xsd:element ref="ns1:_SPTranslatedLanguages" minOccurs="0"/>
                <xsd:element ref="ns1:_SPTranslationSourceItemId" minOccurs="0"/>
                <xsd:element ref="ns1:_SPTranslationLangu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SPIsTranslation" ma:index="24" nillable="true" ma:displayName="Translation" ma:default="FALSE" ma:description="This item is a translation" ma:internalName="_SPIsTranslation" ma:readOnly="true">
      <xsd:simpleType>
        <xsd:restriction base="dms:Boolean"/>
      </xsd:simpleType>
    </xsd:element>
    <xsd:element name="_SPTranslatedLanguages" ma:index="25" nillable="true" ma:displayName="Translation languages" ma:description="Languages that this item has been or is being translated into" ma:internalName="_SPTranslatedLanguages" ma:readOnly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-SA"/>
                    <xsd:enumeration value="az-Latn-AZ"/>
                    <xsd:enumeration value="bg-BG"/>
                    <xsd:enumeration value="bs-Latn-BA"/>
                    <xsd:enumeration value="ca-ES"/>
                    <xsd:enumeration value="cs-CZ"/>
                    <xsd:enumeration value="cy-GB"/>
                    <xsd:enumeration value="da-DK"/>
                    <xsd:enumeration value="de-DE"/>
                    <xsd:enumeration value="el-GR"/>
                    <xsd:enumeration value="en-US"/>
                    <xsd:enumeration value="es-ES"/>
                    <xsd:enumeration value="et-EE"/>
                    <xsd:enumeration value="eu-ES"/>
                    <xsd:enumeration value="fi-FI"/>
                    <xsd:enumeration value="fr-FR"/>
                    <xsd:enumeration value="ga-IE"/>
                    <xsd:enumeration value="gl-ES"/>
                    <xsd:enumeration value="he-IL"/>
                    <xsd:enumeration value="hi-IN"/>
                    <xsd:enumeration value="hr-HR"/>
                    <xsd:enumeration value="hu-HU"/>
                    <xsd:enumeration value="id-ID"/>
                    <xsd:enumeration value="it-IT"/>
                    <xsd:enumeration value="ja-JP"/>
                    <xsd:enumeration value="kk-KZ"/>
                    <xsd:enumeration value="ko-KR"/>
                    <xsd:enumeration value="lt-LT"/>
                    <xsd:enumeration value="lv-LV"/>
                    <xsd:enumeration value="mk-MK"/>
                    <xsd:enumeration value="ms-MY"/>
                    <xsd:enumeration value="nb-NO"/>
                    <xsd:enumeration value="nl-NL"/>
                    <xsd:enumeration value="pl-PL"/>
                    <xsd:enumeration value="prs-AF"/>
                    <xsd:enumeration value="pt-BR"/>
                    <xsd:enumeration value="pt-PT"/>
                    <xsd:enumeration value="ro-RO"/>
                    <xsd:enumeration value="ru-RU"/>
                    <xsd:enumeration value="sk-SK"/>
                    <xsd:enumeration value="sl-SI"/>
                    <xsd:enumeration value="sr-Cyrl-RS"/>
                    <xsd:enumeration value="sr-Latn-CS"/>
                    <xsd:enumeration value="sr-Latn-RS"/>
                    <xsd:enumeration value="sv-SE"/>
                    <xsd:enumeration value="th-TH"/>
                    <xsd:enumeration value="tr-TR"/>
                    <xsd:enumeration value="uk-UA"/>
                    <xsd:enumeration value="vi-VN"/>
                    <xsd:enumeration value="zh-CN"/>
                    <xsd:enumeration value="zh-TW"/>
                  </xsd:restriction>
                </xsd:simpleType>
              </xsd:element>
            </xsd:sequence>
          </xsd:extension>
        </xsd:complexContent>
      </xsd:complexType>
    </xsd:element>
    <xsd:element name="_SPTranslationSourceItemId" ma:index="26" nillable="true" ma:displayName="Translation Source ID" ma:description="Unique ID of the item this translation is based on" ma:internalName="_SPTranslationSourceItemId" ma:readOnly="true">
      <xsd:simpleType>
        <xsd:restriction base="dms:Unknown"/>
      </xsd:simpleType>
    </xsd:element>
    <xsd:element name="_SPTranslationLanguage" ma:index="27" nillable="true" ma:displayName="Item Language" ma:description="Language of this item" ma:internalName="_SPTranslationLanguage" ma:readOnly="true">
      <xsd:simpleType>
        <xsd:restriction base="dms:Choice">
          <xsd:enumeration value="ar-SA"/>
          <xsd:enumeration value="az-Latn-AZ"/>
          <xsd:enumeration value="bg-BG"/>
          <xsd:enumeration value="bs-Latn-BA"/>
          <xsd:enumeration value="ca-ES"/>
          <xsd:enumeration value="cs-CZ"/>
          <xsd:enumeration value="cy-GB"/>
          <xsd:enumeration value="da-DK"/>
          <xsd:enumeration value="de-DE"/>
          <xsd:enumeration value="el-GR"/>
          <xsd:enumeration value="en-US"/>
          <xsd:enumeration value="es-ES"/>
          <xsd:enumeration value="et-EE"/>
          <xsd:enumeration value="eu-ES"/>
          <xsd:enumeration value="fi-FI"/>
          <xsd:enumeration value="fr-FR"/>
          <xsd:enumeration value="ga-IE"/>
          <xsd:enumeration value="gl-ES"/>
          <xsd:enumeration value="he-IL"/>
          <xsd:enumeration value="hi-IN"/>
          <xsd:enumeration value="hr-HR"/>
          <xsd:enumeration value="hu-HU"/>
          <xsd:enumeration value="id-ID"/>
          <xsd:enumeration value="it-IT"/>
          <xsd:enumeration value="ja-JP"/>
          <xsd:enumeration value="kk-KZ"/>
          <xsd:enumeration value="ko-KR"/>
          <xsd:enumeration value="lt-LT"/>
          <xsd:enumeration value="lv-LV"/>
          <xsd:enumeration value="mk-MK"/>
          <xsd:enumeration value="ms-MY"/>
          <xsd:enumeration value="nb-NO"/>
          <xsd:enumeration value="nl-NL"/>
          <xsd:enumeration value="pl-PL"/>
          <xsd:enumeration value="prs-AF"/>
          <xsd:enumeration value="pt-BR"/>
          <xsd:enumeration value="pt-PT"/>
          <xsd:enumeration value="ro-RO"/>
          <xsd:enumeration value="ru-RU"/>
          <xsd:enumeration value="sk-SK"/>
          <xsd:enumeration value="sl-SI"/>
          <xsd:enumeration value="sr-Cyrl-RS"/>
          <xsd:enumeration value="sr-Latn-CS"/>
          <xsd:enumeration value="sr-Latn-RS"/>
          <xsd:enumeration value="sv-SE"/>
          <xsd:enumeration value="th-TH"/>
          <xsd:enumeration value="tr-TR"/>
          <xsd:enumeration value="uk-UA"/>
          <xsd:enumeration value="vi-VN"/>
          <xsd:enumeration value="zh-CN"/>
          <xsd:enumeration value="zh-TW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afdd4-4528-4476-ab16-00a5750ab81c" elementFormDefault="qualified">
    <xsd:import namespace="http://schemas.microsoft.com/office/2006/documentManagement/types"/>
    <xsd:import namespace="http://schemas.microsoft.com/office/infopath/2007/PartnerControls"/>
    <xsd:element name="abe66603087445669b8b2920ee71eaef" ma:index="8" nillable="true" ma:taxonomy="true" ma:internalName="abe66603087445669b8b2920ee71eaef" ma:taxonomyFieldName="T2KCategory" ma:displayName="T2K Category" ma:fieldId="{abe66603-0874-4566-9b8b-2920ee71eaef}" ma:sspId="d85e823d-31db-440c-980d-283f89df7c2e" ma:termSetId="5fcb34d7-7469-453f-8c23-50fd6054164d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db4c08cc-285d-47fa-b22a-fb27dfa68643}" ma:internalName="TaxCatchAll" ma:showField="CatchAllData" ma:web="e8cafdd4-4528-4476-ab16-00a5750ab8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db4c08cc-285d-47fa-b22a-fb27dfa68643}" ma:internalName="TaxCatchAllLabel" ma:readOnly="true" ma:showField="CatchAllDataLabel" ma:web="e8cafdd4-4528-4476-ab16-00a5750ab8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a99d158c7f14474ab98801009d80b56" ma:index="12" nillable="true" ma:taxonomy="true" ma:internalName="fa99d158c7f14474ab98801009d80b56" ma:taxonomyFieldName="TogoTags" ma:displayName="Tags" ma:fieldId="{fa99d158-c7f1-4474-ab98-801009d80b56}" ma:taxonomyMulti="true" ma:sspId="d85e823d-31db-440c-980d-283f89df7c2e" ma:termSetId="8ed7ce38-efb7-4d06-97ea-c211d216cdc7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ogoImageUrl" ma:index="14" nillable="true" ma:displayName="Image URL" ma:default="" ma:description="Image URL" ma:internalName="TogoImageUrl">
      <xsd:simpleType>
        <xsd:restriction base="dms:Note"/>
      </xsd:simpleType>
    </xsd:element>
    <xsd:element name="TogoHighlight" ma:index="15" nillable="true" ma:displayName="Highlight" ma:default="False" ma:description="Highlight" ma:internalName="TogoHighlight">
      <xsd:simpleType>
        <xsd:restriction base="dms:Boolean"/>
      </xsd:simpleType>
    </xsd:element>
    <xsd:element name="TogoAuthor" ma:index="16" nillable="true" ma:displayName="Author" ma:default="" ma:description="Author" ma:list="UserInfo" ma:internalName="Togo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d3a7737cb0047dc8ce44bed1647af23" ma:index="17" nillable="true" ma:taxonomy="true" ma:internalName="gd3a7737cb0047dc8ce44bed1647af23" ma:taxonomyFieldName="TogoLocations" ma:displayName="Locations" ma:fieldId="{0d3a7737-cb00-47dc-8ce4-4bed1647af23}" ma:taxonomyMulti="true" ma:sspId="d85e823d-31db-440c-980d-283f89df7c2e" ma:termSetId="b49f64b3-4722-4336-9a5c-56c326b344d4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n63ae9402be240f1a4937184116f6bcc" ma:index="19" nillable="true" ma:taxonomy="true" ma:internalName="n63ae9402be240f1a4937184116f6bcc" ma:taxonomyFieldName="TogoDepartments" ma:displayName="Departments" ma:fieldId="{763ae940-2be2-40f1-a493-7184116f6bcc}" ma:taxonomyMulti="true" ma:sspId="d85e823d-31db-440c-980d-283f89df7c2e" ma:termSetId="8ed8c9ea-7052-4c1d-a4d7-b9c10bffea6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ogoPublishingDate" ma:index="21" nillable="true" ma:displayName="Publishing Date" ma:default="" ma:description="Publishing Date" ma:internalName="TogoPublishingDate">
      <xsd:simpleType>
        <xsd:restriction base="dms:DateTime"/>
      </xsd:simpleType>
    </xsd:element>
    <xsd:element name="TogoDueDate" ma:index="22" nillable="true" ma:displayName="Due Date" ma:default="2099-12-31T00:00:00Z" ma:description="Due Date" ma:internalName="TogoDue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c6ed-a414-487d-8643-813a0aafc40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3" nillable="true" ma:displayName="Image Tags_0" ma:hidden="true" ma:internalName="lcf76f155ced4ddcb4097134ff3c332f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cafdd4-4528-4476-ab16-00a5750ab81c">
      <Value>3</Value>
    </TaxCatchAll>
    <TogoDueDate xmlns="e8cafdd4-4528-4476-ab16-00a5750ab81c">2099-12-31T00:00:00+00:00</TogoDueDate>
    <gd3a7737cb0047dc8ce44bed1647af23 xmlns="e8cafdd4-4528-4476-ab16-00a5750ab81c">
      <Terms xmlns="http://schemas.microsoft.com/office/infopath/2007/PartnerControls"/>
    </gd3a7737cb0047dc8ce44bed1647af23>
    <lcf76f155ced4ddcb4097134ff3c332f xmlns="f9e5c6ed-a414-487d-8643-813a0aafc40d" xsi:nil="true"/>
    <TogoImageUrl xmlns="e8cafdd4-4528-4476-ab16-00a5750ab81c" xsi:nil="true"/>
    <TogoHighlight xmlns="e8cafdd4-4528-4476-ab16-00a5750ab81c">false</TogoHighlight>
    <TogoPublishingDate xmlns="e8cafdd4-4528-4476-ab16-00a5750ab81c" xsi:nil="true"/>
    <TogoAuthor xmlns="e8cafdd4-4528-4476-ab16-00a5750ab81c">
      <UserInfo>
        <DisplayName/>
        <AccountId xsi:nil="true"/>
        <AccountType/>
      </UserInfo>
    </TogoAuthor>
    <fa99d158c7f14474ab98801009d80b56 xmlns="e8cafdd4-4528-4476-ab16-00a5750ab81c">
      <Terms xmlns="http://schemas.microsoft.com/office/infopath/2007/PartnerControls"/>
    </fa99d158c7f14474ab98801009d80b56>
    <n63ae9402be240f1a4937184116f6bcc xmlns="e8cafdd4-4528-4476-ab16-00a5750ab81c">
      <Terms xmlns="http://schemas.microsoft.com/office/infopath/2007/PartnerControls"/>
    </n63ae9402be240f1a4937184116f6bcc>
    <abe66603087445669b8b2920ee71eaef xmlns="e8cafdd4-4528-4476-ab16-00a5750ab81c">
      <Terms xmlns="http://schemas.microsoft.com/office/infopath/2007/PartnerControls">
        <TermInfo xmlns="http://schemas.microsoft.com/office/infopath/2007/PartnerControls">
          <TermName xmlns="http://schemas.microsoft.com/office/infopath/2007/PartnerControls">Brand</TermName>
          <TermId xmlns="http://schemas.microsoft.com/office/infopath/2007/PartnerControls">832b67cf-1f4d-4e03-97fa-b9a01cdb780b</TermId>
        </TermInfo>
      </Terms>
    </abe66603087445669b8b2920ee71eaef>
  </documentManagement>
</p:properties>
</file>

<file path=customXml/itemProps1.xml><?xml version="1.0" encoding="utf-8"?>
<ds:datastoreItem xmlns:ds="http://schemas.openxmlformats.org/officeDocument/2006/customXml" ds:itemID="{6033E4B9-9001-496F-B443-3F250238E3F5}"/>
</file>

<file path=customXml/itemProps2.xml><?xml version="1.0" encoding="utf-8"?>
<ds:datastoreItem xmlns:ds="http://schemas.openxmlformats.org/officeDocument/2006/customXml" ds:itemID="{29F7DB07-14FD-4CA6-A860-9732C662872E}"/>
</file>

<file path=customXml/itemProps3.xml><?xml version="1.0" encoding="utf-8"?>
<ds:datastoreItem xmlns:ds="http://schemas.openxmlformats.org/officeDocument/2006/customXml" ds:itemID="{65D16A3C-7493-4719-BC77-C48207EAD7F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909</Words>
  <Application>Microsoft Office PowerPoint</Application>
  <PresentationFormat>Widescreen</PresentationFormat>
  <Paragraphs>296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</vt:lpstr>
      <vt:lpstr>Georgia</vt:lpstr>
      <vt:lpstr>Covers - Full Image Background</vt:lpstr>
      <vt:lpstr>Light Covers - Partial Images</vt:lpstr>
      <vt:lpstr>Light Covers - No Image</vt:lpstr>
      <vt:lpstr>Light Body Slides</vt:lpstr>
      <vt:lpstr>Light Body Slides - Small Title, Large Subtitle</vt:lpstr>
      <vt:lpstr>Light Dividers</vt:lpstr>
      <vt:lpstr>Light Blank Slides</vt:lpstr>
      <vt:lpstr>Dark Covers - Partial Images</vt:lpstr>
      <vt:lpstr>Dark Covers - No Image</vt:lpstr>
      <vt:lpstr>Dark Body Slides</vt:lpstr>
      <vt:lpstr>Dark Body Slides - Small Title, Large Subtitle</vt:lpstr>
      <vt:lpstr>Dark Dividers</vt:lpstr>
      <vt:lpstr>Dark Blank Slides</vt:lpstr>
      <vt:lpstr>1_Back Covers</vt:lpstr>
      <vt:lpstr>PowerPoint Presentation</vt:lpstr>
      <vt:lpstr>Cover Slide Example 1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Thompson</dc:creator>
  <cp:keywords>NTT DATA, Inc.;PowerPoint Template</cp:keywords>
  <cp:lastModifiedBy>Jayson Thompson</cp:lastModifiedBy>
  <cp:revision>1</cp:revision>
  <dcterms:created xsi:type="dcterms:W3CDTF">2026-01-05T12:01:22Z</dcterms:created>
  <dcterms:modified xsi:type="dcterms:W3CDTF">2026-01-05T12:02:56Z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0x01010040A11AC9A095403B86EC8B98C09708A300B18DC44D3AD07641A07CA18912D9B9CC</vt:lpwstr>
  </property>
  <property fmtid="{D5CDD505-2E9C-101B-9397-08002B2CF9AE}" pid="3" name="T2KCategory">
    <vt:lpwstr>3;#Brand|832b67cf-1f4d-4e03-97fa-b9a01cdb780b</vt:lpwstr>
  </property>
  <property fmtid="{D5CDD505-2E9C-101B-9397-08002B2CF9AE}" pid="4" name="TogoLocations">
    <vt:lpwstr/>
  </property>
  <property fmtid="{D5CDD505-2E9C-101B-9397-08002B2CF9AE}" pid="5" name="MediaServiceImageTags">
    <vt:lpwstr/>
  </property>
  <property fmtid="{D5CDD505-2E9C-101B-9397-08002B2CF9AE}" pid="7" name="TogoDepartments">
    <vt:lpwstr/>
  </property>
  <property fmtid="{D5CDD505-2E9C-101B-9397-08002B2CF9AE}" pid="8" name="TogoDocumentsCategory">
    <vt:lpwstr/>
  </property>
  <property fmtid="{D5CDD505-2E9C-101B-9397-08002B2CF9AE}" pid="9" name="TogoTags">
    <vt:lpwstr/>
  </property>
  <property fmtid="{D5CDD505-2E9C-101B-9397-08002B2CF9AE}" pid="10" name="a01feae194714aa882aedc460c3c0dc2">
    <vt:lpwstr/>
  </property>
</Properties>
</file>