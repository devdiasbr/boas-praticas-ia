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147481328" r:id="rId16"/>
    <p:sldId id="2147481329" r:id="rId23"/>
    <p:sldId id="2147481330" r:id="rId22"/>
    <p:sldId id="2147481331" r:id="rId21"/>
    <p:sldId id="2147481332" r:id="rId20"/>
    <p:sldId id="2147481333" r:id="rId19"/>
    <p:sldId id="2147481334" r:id="rId18"/>
    <p:sldId id="2147481335" r:id="rId17"/>
    <p:sldId id="2147481336" r:id="rId15"/>
    <p:sldId id="2147481337" r:id="rId33"/>
    <p:sldId id="2147481338" r:id="rId34"/>
    <p:sldId id="2147481339" r:id="rId35"/>
    <p:sldId id="2147481340" r:id="rId36"/>
    <p:sldId id="2147481341" r:id="rId37"/>
    <p:sldId id="2147481342" r:id="rId38"/>
    <p:sldId id="2147481343" r:id="rId39"/>
    <p:sldId id="2147481344" r:id="rId40"/>
    <p:sldId id="2147481345" r:id="rId41"/>
    <p:sldId id="2147481346" r:id="rId42"/>
    <p:sldId id="2147481347" r:id="rId43"/>
    <p:sldId id="2147481348" r:id="rId44"/>
    <p:sldId id="2147481349" r:id="rId45"/>
    <p:sldId id="214748135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900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Enquadramento: isto nao e treinamento de ferramenta. Metade do tempo e de voces: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Baixar a guarda da plateia. Deixar claro que e experiencia, nao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um caso real curto de um dos tres. Vulnerabilidade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central. Se levarem uma frase, e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ciclo nao e cerimonia: em tarefa pequena cada etapa leva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nao e o custo: as 1.847 linhas irrelevantes disputam atencao com as 6 que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Sugerir que testem hoje numa conversa longa que ja esteja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de escrever: 40 segundos. Custo de nao escrever: o review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ao vivo se der tempo: e o item mais facil de copiar.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Armadilhas e a secao de maior valor. Pergunta: o que ja quebrou alguem que entrou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Regra: data absoluta sempre. 'Recentemente' apodrece em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qual voce usa (Superpowers) como exemplo, nao como recomendacao fechada. O processo custa tokens a mais por sessao; o ganho aparece em nao refazer.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squad usa Devin, abrir a conversa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em qual coluna cai o que eles delegam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plateia achar os problemas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item de dado de cliente merece pausa se a squad lida com dado regulado.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rapido. Se perguntarem de Devin: nao uso no dia a dia, mas o criterio da matriz vale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pedindo que escolham UMA e tentem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pergunta: e a mais concreta e sempre destrava.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encerramento da marca. Nada e sobreposto ao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3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que esta conversa 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87452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Treinamento de ferramenta.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Lista de prompts mágicos.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Alguém dizendo que vocês estão fazendo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87452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Práticas que funcionam, com exemplo real.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caminho até elas — que no meu caso foi caro.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dá para aplicar já na segunda.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Se no fim vocês discordarem, ótimo — é para isso que metade do tempo está reservada.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erros que custam caro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Os três eram meus. Pela conversa com outras squads, não eram só meus.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8562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Colar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7407" y="1837943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Log inteiro, arquivo inteiro, “por precaução”.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 intuição de que mais contexto = melhor resposta.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53511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95351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35223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Pedir vago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2916935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“Otimiza isso aí.”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Volta algo legítimo que não dá para usar.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4032503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3250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4014215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Aceitar o que vem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995927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Bem escrito, parece certo, ninguém roda.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Aparece no review — ou em produção.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 dos três é sobre a ferramenta. Os três são sobre método.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gargalo mudou de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070F26"/>
                </a:solidFill>
                <a:latin typeface="Georgia"/>
              </a:rPr>
              <a:t>Escrever código deixou de ser o gargalo.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072BC"/>
                </a:solidFill>
                <a:latin typeface="Georgia"/>
              </a:rPr>
              <a:t>Decidir o que deve ser construído virou o gargalo.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8404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Quando ninguém decide, o modelo decide — por omissão, com confiança.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E isso só aparece no code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7735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7735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735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 antes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de pedir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263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7159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7159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ESPECIFICAR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7159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escrever 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5687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6583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6583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6583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pessoa ou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agente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5111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6007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6007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rodar, não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4535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25431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25431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5431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o que vale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pra próxima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148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O atalho comum — e o meu, por muito tempo: pular de “tenho um problema” direto para “escreve o código”.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Antes de pedir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A parte que acontece antes de digitar qualquer coisa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Contexto é orçamento, não depósito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Starting worker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Connected redis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(1.847 linhas) ...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09:31:55 ERROR ValueError: inva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(mais 600 linhas)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recorte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ValueError: invalid literal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parser.py:42 in parse_row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Já verifiquei: CSV tem células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vazias. Schema não é meu.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Quero vazio -&gt; None, sem engolir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outros erros.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55B6"/>
                </a:solidFill>
                <a:latin typeface="Arial"/>
              </a:rPr>
              <a:t>~200 tokens · e resposta melhor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Sessão longa apodrece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Conversa de 3 horas acumula decisão revogada, tentativa abandonada e arquivo velho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0312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O que pedir antes de abrir uma sessão nova: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05456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“Escreva um resumo de estado em até 20 linhas: decisões tomadas e o porquê,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decisões que DESCARTAMOS e o motivo, arquivos alterados, o que está pendente.”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319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72BC"/>
                </a:solidFill>
                <a:latin typeface="Arial"/>
              </a:rPr>
              <a:t>~90.000 tokens de histórico  →  ~600 de estado útil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262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A6675"/>
                </a:solidFill>
                <a:latin typeface="Arial"/>
              </a:rPr>
              <a:t>O bloco de decisões descartadas é o que mais economiza: sem ele, a sessão nova propõe de novo tudo que já tinha sido recusado.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Como pedir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Onde o retorno aparece mais rápido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critério de aceite vai junto com o pedido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vago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70F26"/>
                </a:solidFill>
                <a:latin typeface="Courier New"/>
              </a:rPr>
              <a:t>otimiza essa função aqui pra mim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Otimizar em quê? Tempo, memória, número de queries?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escolhe — e devolve algo legítimo, com async, ORM trocado e assinatura nova.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Não dá pra usar.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com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Suspeita: N+1 no lazy load.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RESTRIÇÕES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manter assinatura e retorno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dependência nova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async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ACEITE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nº de queries constante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diga quantas antes e 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pedido errado devolve código. O certo devolve código que entra no PR.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Em tarefa grande: plano antes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parágrafo que mais poupa retrabalho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6675120" cy="205740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396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Antes de escrever qualquer código: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1. liste os arquivos que pretende tocar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2. aponte os riscos e o que pode quebrar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3. diga o que você NÃO vai mexer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Pare aí e espere meu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90688" y="195681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Por que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14016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um plano de 10 linhas custa uma frase.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400 linhas geradas custa a tarefa inteira.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“Não mexe no serializers.py, é contrato público” — o modelo não tinha como saber.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Vale sempre que a tarefa passa de um arquivo.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O que persistir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Contexto morre com a sessão. O que precisa sobreviver vira arquivo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arquivo de contexto no repositório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Lido em toda sessão, por todo mundo — então cada linha precisa se pagar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5740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Não entra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“Usamos Python e FastAPI.”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“Os testes ficam em tests/.”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“Escreva código de qualidade.”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descobre isso em 2 segundos lendo o repo. E o time paga por essas linhas todo 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5740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“app/legacy/ está congelado.”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“Nunca chame billing direto — o rate limit é compartilhado e derruba geral.”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“PA = Pedido Antecipado.”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Isso nenhum modelo descobre sozinho.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Teste: se a linha pode ser respondida lendo o README, apague.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mora o que o código não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Vault de notas, wiki, ADR no repo — a ferramenta importa menos que o formato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1168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Nota-diário (inútil)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“Ontem discutimos o importador.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O pessoal falou que era melhor a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abordagem nova. O João vai olhar.”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Seis meses depois: qual problema?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qual abordagem? “ontem” quando?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1168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Fato, com porquê e validade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“Importação roda em lote noturno.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Por quê: fornecedor limita 100 req/min.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Tempo real derrubava a integração.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Consequência: estoque tem 24h de atraso.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Decidido em 2026-05-20.”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070F26"/>
                </a:solidFill>
                <a:latin typeface="Arial"/>
              </a:rPr>
              <a:t>O título é a afirmação, não o tópico — é por ele que a IA decide se a nota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Método dentro da ferramenta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mais muda resultado não é trocar de modelo — é o ciclo deixar de ser opcional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14884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ciclo é imposto: entender → planejar → executar → verificar.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agente não avança de etapa sem cumprir a anterior.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64408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Sem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3447288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ciclo é seguido quando dá tempo.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Sob prazo, é a primeira coisa a ser abandonada.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70F26"/>
                </a:solidFill>
                <a:latin typeface="Georgia"/>
              </a:rPr>
              <a:t>Disciplina que depende de alguém lembrar, sob prazo, não é disciplina.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Quando delegar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O critério vale para qualquer agente autônomo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Trade-off de produto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Exploração de alternativas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Lint e tipo em massa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262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Delegue o tedioso e verificável. Pilote o ambíguo. Faça na mão o irreversível.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560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  def parse_row(row) -&gt; int | None: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try: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except Exception: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None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with pytest.raises(ValueError):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except Exception engole tudo — coluna faltando vira None silencioso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o teste antigo foi invertido para passar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 tem um parâmetro de biblioteca que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não usar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Saber onde não usar é metade do ganho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8470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Conta e agregação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0288" y="1847088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O modelo estima a partir do texto. Peça a query — a máquina calcula, o número é auditável.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79191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9191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Decisão de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5176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Serve para levantar alternativas. A escolha é da pessoa — e é onde está o valor dela.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483863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48386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56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Aprovar o que não se entende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45643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 não entende cada linha, não aprove. Dívida no dia 1, incidente no dia 90.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288536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288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26110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Dado de cliente e segredo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61103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Nunca no prompt. Anonimize ou use dado sintético. Sem exceção de prazo.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A responsabilidade não é delegável: quem aprova responde. “A IA escreveu” não explica incidente.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Ferramentas,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eu uso hoje. Menos importante que tudo que veio antes — mas sempre perguntam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210312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onde o trabalho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61488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Superpowers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94436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framework de processo: impõe o ciclo dentro da ferramenta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78561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 que o código não conta: decisão, porquê, regra de negócio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43984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268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Compressão de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6268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resposta densa; economiza agora e no histórico 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492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Trocar de ferramenta não resolve problema de método. Pedido ruim é ruim em qualquer uma.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coisas para segunda-feira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Nessa ordem — a primeira sozinha já muda o resultado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221991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167128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Mande o trecho, não o arquivo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532888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Recorte o traceback e diga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18104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374136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319272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Diga como você vai saber que ficou certo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685032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Uma linha de critério de aceite, junto com o pedido.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70248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4526280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262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71416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837176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Nenhuma das três depende de instalar nada.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55B6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03120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377439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Onde isso não vai funcionar no nosso contexto?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27248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40156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que vocês já fazem que o resto do time deveria copiar?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151376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Qual tarefa da sprint serviria de teste?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66344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a mais concreta — começa por essa se travar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Material completo e templates: &lt;link do repositório&gt;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ver Photo" descr="A group of tall buildings">
            <a:extLst>
              <a:ext uri="{FF2B5EF4-FFF2-40B4-BE49-F238E27FC236}">
                <a16:creationId xmlns:a16="http://schemas.microsoft.com/office/drawing/2014/main" id="{D1784304-20CA-2595-A2CF-CFD02E4EF6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" b="81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91235-C283-783D-AF49-E845205D04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4E82A2-356B-1BC2-C482-7770727F7B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7C6A72F5-2EAA-30FE-0CD3-202C143C918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1759756-E6FE-4FFA-8F5E-B04C401C52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CA" dirty="0"/>
              <a:t>© 2026 NTT DATA, Inc.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DBF8-81A7-9FE7-57D3-9CD874C25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07AD3-DD8E-6F8A-4838-E3B5AAB6E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BDF3ACB-BC28-B46B-FF4A-2BDF0F8083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 b="0">
                <a:solidFill>
                  <a:srgbClr val="FFFFFF"/>
                </a:solidFill>
                <a:latin typeface="Arial"/>
              </a:rPr>
              <a:t>Práticas que funcionam — contadas pelo</a:t>
            </a:r>
          </a:p>
          <a:p>
            <a:r>
              <a:rPr sz="1300" b="0">
                <a:solidFill>
                  <a:srgbClr val="FFFFFF"/>
                </a:solidFill>
                <a:latin typeface="Arial"/>
              </a:rPr>
              <a:t>caminho que eu fiz até elas</a:t>
            </a:r>
          </a:p>
        </p:txBody>
      </p:sp>
      <p:sp>
        <p:nvSpPr>
          <p:cNvPr id="9" name="MainTitle">
            <a:extLst>
              <a:ext uri="{FF2B5EF4-FFF2-40B4-BE49-F238E27FC236}">
                <a16:creationId xmlns:a16="http://schemas.microsoft.com/office/drawing/2014/main" id="{E13429DD-7708-C4B2-04F6-88B9AC61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Georgia"/>
              </a:rPr>
              <a:t>Como eu uso IA</a:t>
            </a:r>
          </a:p>
          <a:p>
            <a:r>
              <a:rPr sz="3400" b="1">
                <a:solidFill>
                  <a:srgbClr val="FFFFFF"/>
                </a:solidFill>
                <a:latin typeface="Georgia"/>
              </a:rPr>
              <a:t>no dia a dia</a:t>
            </a:r>
          </a:p>
        </p:txBody>
      </p:sp>
    </p:spTree>
    <p:extLst>
      <p:ext uri="{BB962C8B-B14F-4D97-AF65-F5344CB8AC3E}">
        <p14:creationId xmlns:p14="http://schemas.microsoft.com/office/powerpoint/2010/main" val="96905511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