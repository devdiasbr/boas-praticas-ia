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4239" r:id="rId1"/>
    <p:sldMasterId id="2147484075" r:id="rId2"/>
    <p:sldMasterId id="2147484065" r:id="rId3"/>
    <p:sldMasterId id="2147484182" r:id="rId4"/>
    <p:sldMasterId id="2147484229" r:id="rId5"/>
    <p:sldMasterId id="2147484150" r:id="rId6"/>
    <p:sldMasterId id="2147484154" r:id="rId7"/>
    <p:sldMasterId id="2147484045" r:id="rId8"/>
    <p:sldMasterId id="2147484054" r:id="rId9"/>
    <p:sldMasterId id="2147484203" r:id="rId10"/>
    <p:sldMasterId id="2147484224" r:id="rId11"/>
    <p:sldMasterId id="2147484171" r:id="rId12"/>
    <p:sldMasterId id="2147484175" r:id="rId13"/>
    <p:sldMasterId id="2147484234" r:id="rId14"/>
  </p:sldMasterIdLst>
  <p:notesMasterIdLst>
    <p:notesMasterId r:id="rId24"/>
  </p:notesMasterIdLst>
  <p:handoutMasterIdLst>
    <p:handoutMasterId r:id="rId25"/>
  </p:handoutMasterIdLst>
  <p:sldIdLst>
    <p:sldId id="2147481328" r:id="rId16"/>
    <p:sldId id="2147481329" r:id="rId23"/>
    <p:sldId id="2147481330" r:id="rId22"/>
    <p:sldId id="2147481331" r:id="rId21"/>
    <p:sldId id="2147481332" r:id="rId20"/>
    <p:sldId id="2147481333" r:id="rId19"/>
    <p:sldId id="2147481334" r:id="rId18"/>
    <p:sldId id="2147481335" r:id="rId17"/>
    <p:sldId id="2147481336" r:id="rId15"/>
    <p:sldId id="2147481337" r:id="rId33"/>
    <p:sldId id="2147481338" r:id="rId34"/>
    <p:sldId id="2147481339" r:id="rId35"/>
    <p:sldId id="2147481340" r:id="rId36"/>
    <p:sldId id="2147481341" r:id="rId37"/>
    <p:sldId id="2147481342" r:id="rId38"/>
    <p:sldId id="2147481343" r:id="rId39"/>
    <p:sldId id="2147481344" r:id="rId40"/>
    <p:sldId id="2147481345" r:id="rId41"/>
    <p:sldId id="2147481346" r:id="rId42"/>
    <p:sldId id="2147481347" r:id="rId43"/>
    <p:sldId id="2147481348" r:id="rId44"/>
    <p:sldId id="2147481349" r:id="rId45"/>
    <p:sldId id="2147481350" r:id="rId46"/>
    <p:sldId id="2147481351" r:id="rId47"/>
    <p:sldId id="2147481352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A4A3A4"/>
          </p15:clr>
        </p15:guide>
        <p15:guide id="4" pos="74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E5E5"/>
    <a:srgbClr val="19A3FC"/>
    <a:srgbClr val="000000"/>
    <a:srgbClr val="050D24"/>
    <a:srgbClr val="FFFFFF"/>
    <a:srgbClr val="0072BC"/>
    <a:srgbClr val="009AA4"/>
    <a:srgbClr val="007076"/>
    <a:srgbClr val="2E404D"/>
    <a:srgbClr val="E42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8" autoAdjust="0"/>
    <p:restoredTop sz="94654" autoAdjust="0"/>
  </p:normalViewPr>
  <p:slideViewPr>
    <p:cSldViewPr>
      <p:cViewPr varScale="1">
        <p:scale>
          <a:sx n="94" d="100"/>
          <a:sy n="94" d="100"/>
        </p:scale>
        <p:origin x="90" y="606"/>
      </p:cViewPr>
      <p:guideLst>
        <p:guide orient="horz" pos="2160"/>
        <p:guide pos="3840"/>
        <p:guide pos="240"/>
        <p:guide pos="74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84"/>
    </p:cViewPr>
  </p:sorterViewPr>
  <p:notesViewPr>
    <p:cSldViewPr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" Target="slides/slide9.xml"/><Relationship Id="rId16" Type="http://schemas.openxmlformats.org/officeDocument/2006/relationships/slide" Target="slides/slide900.xml"/><Relationship Id="rId17" Type="http://schemas.openxmlformats.org/officeDocument/2006/relationships/slide" Target="slides/slide8.xml"/><Relationship Id="rId18" Type="http://schemas.openxmlformats.org/officeDocument/2006/relationships/slide" Target="slides/slide7.xml"/><Relationship Id="rId19" Type="http://schemas.openxmlformats.org/officeDocument/2006/relationships/slide" Target="slides/slide6.xml"/><Relationship Id="rId20" Type="http://schemas.openxmlformats.org/officeDocument/2006/relationships/slide" Target="slides/slide5.xml"/><Relationship Id="rId21" Type="http://schemas.openxmlformats.org/officeDocument/2006/relationships/slide" Target="slides/slide4.xml"/><Relationship Id="rId22" Type="http://schemas.openxmlformats.org/officeDocument/2006/relationships/slide" Target="slides/slide3.xml"/><Relationship Id="rId23" Type="http://schemas.openxmlformats.org/officeDocument/2006/relationships/slide" Target="slides/slide2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customXml" Target="../customXml/item1.xml"/><Relationship Id="rId31" Type="http://schemas.openxmlformats.org/officeDocument/2006/relationships/customXml" Target="../customXml/item2.xml"/><Relationship Id="rId32" Type="http://schemas.openxmlformats.org/officeDocument/2006/relationships/customXml" Target="../customXml/item3.xml"/><Relationship Id="rId33" Type="http://schemas.openxmlformats.org/officeDocument/2006/relationships/slide" Target="slides/slide10.xml"/><Relationship Id="rId34" Type="http://schemas.openxmlformats.org/officeDocument/2006/relationships/slide" Target="slides/slide11.xml"/><Relationship Id="rId35" Type="http://schemas.openxmlformats.org/officeDocument/2006/relationships/slide" Target="slides/slide12.xml"/><Relationship Id="rId36" Type="http://schemas.openxmlformats.org/officeDocument/2006/relationships/slide" Target="slides/slide13.xml"/><Relationship Id="rId37" Type="http://schemas.openxmlformats.org/officeDocument/2006/relationships/slide" Target="slides/slide14.xml"/><Relationship Id="rId38" Type="http://schemas.openxmlformats.org/officeDocument/2006/relationships/slide" Target="slides/slide15.xml"/><Relationship Id="rId39" Type="http://schemas.openxmlformats.org/officeDocument/2006/relationships/slide" Target="slides/slide16.xml"/><Relationship Id="rId40" Type="http://schemas.openxmlformats.org/officeDocument/2006/relationships/slide" Target="slides/slide17.xml"/><Relationship Id="rId41" Type="http://schemas.openxmlformats.org/officeDocument/2006/relationships/slide" Target="slides/slide18.xml"/><Relationship Id="rId42" Type="http://schemas.openxmlformats.org/officeDocument/2006/relationships/slide" Target="slides/slide19.xml"/><Relationship Id="rId43" Type="http://schemas.openxmlformats.org/officeDocument/2006/relationships/slide" Target="slides/slide20.xml"/><Relationship Id="rId44" Type="http://schemas.openxmlformats.org/officeDocument/2006/relationships/slide" Target="slides/slide21.xml"/><Relationship Id="rId45" Type="http://schemas.openxmlformats.org/officeDocument/2006/relationships/slide" Target="slides/slide22.xml"/><Relationship Id="rId46" Type="http://schemas.openxmlformats.org/officeDocument/2006/relationships/slide" Target="slides/slide23.xml"/><Relationship Id="rId47" Type="http://schemas.openxmlformats.org/officeDocument/2006/relationships/slide" Target="slides/slide24.xml"/><Relationship Id="rId48" Type="http://schemas.openxmlformats.org/officeDocument/2006/relationships/slide" Target="slides/slide2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F5F3CF2-0D2F-62EB-F9FA-5289929439E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5D0CDA-4A74-7373-1A98-BA772C315F9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8BF9E0-02C4-234E-AF12-F32F5E61E023}" type="datetimeFigureOut">
              <a:rPr lang="en-US" smtClean="0">
                <a:latin typeface="Arial" panose="020B0604020202020204" pitchFamily="34" charset="0"/>
              </a:rPr>
              <a:t>1/5/2026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C38906-40BE-6961-6268-E0C407BC82F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C8528-A8AA-EDCA-B140-81A4C4FD127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0723CE-3F45-1C4A-8C37-B8E64C81DE38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64606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4BACC3CC-056C-4C7B-97E3-8A853401A333}" type="datetimeFigureOut">
              <a:rPr lang="en-US" smtClean="0"/>
              <a:pPr/>
              <a:t>1/5/2026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3ABF52DC-EC59-4DE1-BAC7-23B3848E6B8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18378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pelo problema do time, nao por credencial pessoal. 30 min de fala, 30 de conversa.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pelo dado, nao por opiniao. O numero de estabilidade e o gancho: o problema nao e adotar, e adotar sem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e a tese. Tudo depois disso e detalhamento dela.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Deixar claro que a agenda segue essas duas partes.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Transicao curta.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Ponto do Giovanni: se voce nao tem nocao do que esta acontecendo, use IA para varrer. Se tem, va direto e economize.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Aqui o ponto nao e economia: e qualidade da resposta.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Ponto da Camila: mesmo quando voce tem nocao, pode levar tempo demais. Comparar com hora humana, nao com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de dados, nao de backend. Foi pedido explicito da rodada anterior.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Transicao curta.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Definir os dois termos em voz alta: nem todo mundo conhece.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AGENTS.md e padrao aberto e o Devin le nativamente. Vale citar.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Dois ou tres slides no maximo sobre SDD. Este e o conceito.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que em tarefa pequena cada etapa leva segundos. Nao e cerimonia.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Nao vender um. Mostrar que existe categoria e que a escolha importa menos que a consistencia.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 spec sai sem Fora de escopo, o brainstorming nao terminou.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Exemplo de dados. O erro e previsivel: qualquer agente sem a regra deduplica por pedido_id.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Pedido explicito da rodada anterior. O ponto e nao obrigar a IA a reler o codigo inteiro.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Transicao curta.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Decisao de arquitetura e regra de negocio nunca vao para a IA - ponto levantado na rodada anterior.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Conduzir como pergunta: mostrar e deixar a plateia achar antes de revelar.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bonus. Passar rapido se o tempo apertar.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Pedido concreto: escolher UMA e testar essa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travar, comecar pela terceira pergunta.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encerramento da marca. Nada sobreposto ao logo.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w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w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microsoft.com/office/2007/relationships/hdphoto" Target="../media/hdphoto1.wdp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8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9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4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5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2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3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2.w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, Ful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mart Navy SemiTrans Overlay">
            <a:extLst>
              <a:ext uri="{FF2B5EF4-FFF2-40B4-BE49-F238E27FC236}">
                <a16:creationId xmlns:a16="http://schemas.microsoft.com/office/drawing/2014/main" id="{3F234039-F9BC-AAAE-A07E-DCF4926965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Innovation Curve Overlay">
            <a:extLst>
              <a:ext uri="{FF2B5EF4-FFF2-40B4-BE49-F238E27FC236}">
                <a16:creationId xmlns:a16="http://schemas.microsoft.com/office/drawing/2014/main" id="{67EFF21B-9583-6EE9-5F33-149287A6B01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 cstate="screen">
              <a:alphaModFix amt="4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 ..</a:t>
            </a:r>
          </a:p>
        </p:txBody>
      </p:sp>
      <p:sp>
        <p:nvSpPr>
          <p:cNvPr id="8" name="Cover Photo Placeholder">
            <a:extLst>
              <a:ext uri="{FF2B5EF4-FFF2-40B4-BE49-F238E27FC236}">
                <a16:creationId xmlns:a16="http://schemas.microsoft.com/office/drawing/2014/main" id="{4B3E92DB-5563-6F86-C3D4-DF362E507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  <p:sp>
        <p:nvSpPr>
          <p:cNvPr id="11" name="Date">
            <a:extLst>
              <a:ext uri="{FF2B5EF4-FFF2-40B4-BE49-F238E27FC236}">
                <a16:creationId xmlns:a16="http://schemas.microsoft.com/office/drawing/2014/main" id="{D87E2A77-DBB3-3923-0029-4D3148E74DC9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6324601"/>
            <a:ext cx="129540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13" name="Legal Line">
            <a:extLst>
              <a:ext uri="{FF2B5EF4-FFF2-40B4-BE49-F238E27FC236}">
                <a16:creationId xmlns:a16="http://schemas.microsoft.com/office/drawing/2014/main" id="{36D0E9C7-1F5A-81CC-4242-80983EF9D3C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828800" y="6324602"/>
            <a:ext cx="4114800" cy="304800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14" name="Information Type">
            <a:extLst>
              <a:ext uri="{FF2B5EF4-FFF2-40B4-BE49-F238E27FC236}">
                <a16:creationId xmlns:a16="http://schemas.microsoft.com/office/drawing/2014/main" id="{F8A3F60F-BBBB-8A08-44FD-39E6AB0E206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359796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  <p:sp>
        <p:nvSpPr>
          <p:cNvPr id="7" name="NTT DATA Global Logo" descr="NTT DATA Global Logo">
            <a:extLst>
              <a:ext uri="{FF2B5EF4-FFF2-40B4-BE49-F238E27FC236}">
                <a16:creationId xmlns:a16="http://schemas.microsoft.com/office/drawing/2014/main" id="{67CD9146-46D1-2584-90C9-AC323E0D78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 bwMode="black">
          <a:xfrm>
            <a:off x="402336" y="320040"/>
            <a:ext cx="1959724" cy="400077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48006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11821959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, Paartia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mart Navy SemiTrans Overlay">
            <a:extLst>
              <a:ext uri="{FF2B5EF4-FFF2-40B4-BE49-F238E27FC236}">
                <a16:creationId xmlns:a16="http://schemas.microsoft.com/office/drawing/2014/main" id="{3F234039-F9BC-AAAE-A07E-DCF4926965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Date">
            <a:extLst>
              <a:ext uri="{FF2B5EF4-FFF2-40B4-BE49-F238E27FC236}">
                <a16:creationId xmlns:a16="http://schemas.microsoft.com/office/drawing/2014/main" id="{D87E2A77-DBB3-3923-0029-4D3148E74DC9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6324601"/>
            <a:ext cx="129540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13" name="Legal Line">
            <a:extLst>
              <a:ext uri="{FF2B5EF4-FFF2-40B4-BE49-F238E27FC236}">
                <a16:creationId xmlns:a16="http://schemas.microsoft.com/office/drawing/2014/main" id="{36D0E9C7-1F5A-81CC-4242-80983EF9D3C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828800" y="6324602"/>
            <a:ext cx="4114800" cy="304800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14" name="Information Type">
            <a:extLst>
              <a:ext uri="{FF2B5EF4-FFF2-40B4-BE49-F238E27FC236}">
                <a16:creationId xmlns:a16="http://schemas.microsoft.com/office/drawing/2014/main" id="{F8A3F60F-BBBB-8A08-44FD-39E6AB0E206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359796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[Information Type]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FD957E5C-35D4-A4D9-6D53-531FEABE9B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 cstate="screen">
              <a:alphaModFix amt="4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  =</a:t>
            </a:r>
          </a:p>
        </p:txBody>
      </p:sp>
      <p:sp>
        <p:nvSpPr>
          <p:cNvPr id="8" name="Cover Photo Placeholder">
            <a:extLst>
              <a:ext uri="{FF2B5EF4-FFF2-40B4-BE49-F238E27FC236}">
                <a16:creationId xmlns:a16="http://schemas.microsoft.com/office/drawing/2014/main" id="{4B3E92DB-5563-6F86-C3D4-DF362E507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  <p:sp>
        <p:nvSpPr>
          <p:cNvPr id="7" name="NTT DATA Global Logo" descr="NTT DATA Global Logo">
            <a:extLst>
              <a:ext uri="{FF2B5EF4-FFF2-40B4-BE49-F238E27FC236}">
                <a16:creationId xmlns:a16="http://schemas.microsoft.com/office/drawing/2014/main" id="{67CD9146-46D1-2584-90C9-AC323E0D78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 bwMode="black">
          <a:xfrm>
            <a:off x="402336" y="320040"/>
            <a:ext cx="1959724" cy="400077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48006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3848400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3F234039-F9BC-AAAE-A07E-DCF4926965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">
            <a:extLst>
              <a:ext uri="{FF2B5EF4-FFF2-40B4-BE49-F238E27FC236}">
                <a16:creationId xmlns:a16="http://schemas.microsoft.com/office/drawing/2014/main" id="{44AC6934-5FBE-FCD3-D1F4-5F0671E877AB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721CA36-DC1A-9DA0-482B-013C59CEC0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81000" y="3810000"/>
            <a:ext cx="11430000" cy="533400"/>
          </a:xfrm>
          <a:prstGeom prst="rect">
            <a:avLst/>
          </a:prstGeom>
        </p:spPr>
        <p:txBody>
          <a:bodyPr lIns="0" tIns="45720" rIns="0"/>
          <a:lstStyle>
            <a:lvl1pPr algn="l"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5" name="Legal Line">
            <a:extLst>
              <a:ext uri="{FF2B5EF4-FFF2-40B4-BE49-F238E27FC236}">
                <a16:creationId xmlns:a16="http://schemas.microsoft.com/office/drawing/2014/main" id="{8F5AF9E9-1EA9-189A-D454-5A87BA7AE18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1828800" y="6324602"/>
            <a:ext cx="4114800" cy="304800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7" name="InformationType">
            <a:extLst>
              <a:ext uri="{FF2B5EF4-FFF2-40B4-BE49-F238E27FC236}">
                <a16:creationId xmlns:a16="http://schemas.microsoft.com/office/drawing/2014/main" id="{51B77B86-8916-AB81-4396-509FE365167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A0CD6D9D-8D6C-BE0D-BAC6-0180996D77B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0"/>
            <a:ext cx="12192000" cy="6862482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  <p:sp>
        <p:nvSpPr>
          <p:cNvPr id="3" name="NTT DATA Global Logo" descr="NTT DATA Global Logo">
            <a:extLst>
              <a:ext uri="{FF2B5EF4-FFF2-40B4-BE49-F238E27FC236}">
                <a16:creationId xmlns:a16="http://schemas.microsoft.com/office/drawing/2014/main" id="{111A4B15-57F9-BE95-1E63-1DD7D499E2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 bwMode="black">
          <a:xfrm>
            <a:off x="402336" y="320040"/>
            <a:ext cx="1959724" cy="400077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512730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ackground, Full Innovation Curve on Lef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 noProof="0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2" name="Innovation Curve Over">
            <a:extLst>
              <a:ext uri="{FF2B5EF4-FFF2-40B4-BE49-F238E27FC236}">
                <a16:creationId xmlns:a16="http://schemas.microsoft.com/office/drawing/2014/main" id="{6CF4C396-FB7A-4611-B9A9-DD62A7F1A8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00574" y="3733800"/>
            <a:ext cx="2723626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E3BAD1A6-AE36-4EC7-E8E9-E68CE84F0678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7" name="MainTitle">
            <a:extLst>
              <a:ext uri="{FF2B5EF4-FFF2-40B4-BE49-F238E27FC236}">
                <a16:creationId xmlns:a16="http://schemas.microsoft.com/office/drawing/2014/main" id="{6B8D68FD-3EFC-86B8-83A6-942558B1B3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10668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639E6271-C556-3CDE-4CA2-0E42C3B98DE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8382000" y="3049200"/>
            <a:ext cx="34290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4" name="InformationType">
            <a:extLst>
              <a:ext uri="{FF2B5EF4-FFF2-40B4-BE49-F238E27FC236}">
                <a16:creationId xmlns:a16="http://schemas.microsoft.com/office/drawing/2014/main" id="{C3DAC39C-CF8E-2F9C-ACD8-8D0BDB2310D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3518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803479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ackground, Full Innovation Curve on R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2" name="Innovation Curve Over">
            <a:extLst>
              <a:ext uri="{FF2B5EF4-FFF2-40B4-BE49-F238E27FC236}">
                <a16:creationId xmlns:a16="http://schemas.microsoft.com/office/drawing/2014/main" id="{9B37F7D8-7643-FEC4-6844-838554ED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067800" y="3733800"/>
            <a:ext cx="2741663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FBA20BF-6E67-EA95-53B0-F188DED3EBCD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7" name="MainTitle">
            <a:extLst>
              <a:ext uri="{FF2B5EF4-FFF2-40B4-BE49-F238E27FC236}">
                <a16:creationId xmlns:a16="http://schemas.microsoft.com/office/drawing/2014/main" id="{ABB14F8B-3974-9BD2-A151-F10E66DC4D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10668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1D3E7B21-42CE-65FE-E9DB-ABE96BDEB78F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8458200" y="3049200"/>
            <a:ext cx="33528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4" name="InformationType">
            <a:extLst>
              <a:ext uri="{FF2B5EF4-FFF2-40B4-BE49-F238E27FC236}">
                <a16:creationId xmlns:a16="http://schemas.microsoft.com/office/drawing/2014/main" id="{0D1C59CF-9752-86EF-EC48-38D7153FEE2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8000"/>
            <a:ext cx="2065880" cy="300318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1841880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nnovation Curve">
            <a:extLst>
              <a:ext uri="{FF2B5EF4-FFF2-40B4-BE49-F238E27FC236}">
                <a16:creationId xmlns:a16="http://schemas.microsoft.com/office/drawing/2014/main" id="{C712B74A-36F0-0700-021B-0E4D577E1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alphaModFix amt="3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34000" y="-14748"/>
            <a:ext cx="6872748" cy="6872748"/>
          </a:xfrm>
          <a:prstGeom prst="rect">
            <a:avLst/>
          </a:prstGeom>
        </p:spPr>
      </p:pic>
      <p:sp>
        <p:nvSpPr>
          <p:cNvPr id="8" name="Date">
            <a:extLst>
              <a:ext uri="{FF2B5EF4-FFF2-40B4-BE49-F238E27FC236}">
                <a16:creationId xmlns:a16="http://schemas.microsoft.com/office/drawing/2014/main" id="{DDABABA1-E6FD-0810-F91F-B59773C327E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6B654ED-CDF8-5D36-81AA-B53B42C4A6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0999" y="3810000"/>
            <a:ext cx="4800599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626D85F8-5C60-55E8-F695-C83691B0D4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9" name="Legal">
            <a:extLst>
              <a:ext uri="{FF2B5EF4-FFF2-40B4-BE49-F238E27FC236}">
                <a16:creationId xmlns:a16="http://schemas.microsoft.com/office/drawing/2014/main" id="{59D0528C-EBEB-7766-EC68-F3FD0FB3104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5" name="InformationType">
            <a:extLst>
              <a:ext uri="{FF2B5EF4-FFF2-40B4-BE49-F238E27FC236}">
                <a16:creationId xmlns:a16="http://schemas.microsoft.com/office/drawing/2014/main" id="{2A64F12B-7C56-4867-F7B8-403863A6133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523507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a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nnovation Curve">
            <a:extLst>
              <a:ext uri="{FF2B5EF4-FFF2-40B4-BE49-F238E27FC236}">
                <a16:creationId xmlns:a16="http://schemas.microsoft.com/office/drawing/2014/main" id="{8C3B28B6-8B9E-C21F-EA6E-AA24B02D8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alphaModFix am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6952" y="0"/>
            <a:ext cx="4602549" cy="6876288"/>
          </a:xfrm>
          <a:prstGeom prst="rect">
            <a:avLst/>
          </a:prstGeom>
        </p:spPr>
      </p:pic>
      <p:sp>
        <p:nvSpPr>
          <p:cNvPr id="6" name="Date">
            <a:extLst>
              <a:ext uri="{FF2B5EF4-FFF2-40B4-BE49-F238E27FC236}">
                <a16:creationId xmlns:a16="http://schemas.microsoft.com/office/drawing/2014/main" id="{E681E2B2-C4FC-8ABD-155D-84D4AF640CB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BB498D8-977D-85C2-F8A1-6E0E81414FA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0999" y="3810000"/>
            <a:ext cx="6934199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ACBC0284-F137-DEED-F200-AA1951BACB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69342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28431C58-D4D1-9B6E-6814-5BC0AD9AC28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4" name="InformationType">
            <a:extLst>
              <a:ext uri="{FF2B5EF4-FFF2-40B4-BE49-F238E27FC236}">
                <a16:creationId xmlns:a16="http://schemas.microsoft.com/office/drawing/2014/main" id="{3C177BD4-DCE1-A5B4-1CF2-D4D5631D72E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973212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2A174848-155F-5398-089A-999EEC47654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87859DFE-8CF4-4F3D-0EEA-A79E94194C0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114300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C2B27E61-CB09-FCF3-5814-3387DC2654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CAF6B9DB-A1D8-50E6-B765-048745E86E8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InformationType">
            <a:extLst>
              <a:ext uri="{FF2B5EF4-FFF2-40B4-BE49-F238E27FC236}">
                <a16:creationId xmlns:a16="http://schemas.microsoft.com/office/drawing/2014/main" id="{66374441-1B2C-85EC-9CC0-86A9446AE78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212358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9224E-6D9A-F20A-E95C-3BD86FD1C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D3C075-3634-BEB1-AB31-623AD293F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657D48-2016-6562-8C30-A2CF18ED1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B9585-B814-96B8-821F-CFBD1EE52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93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371600"/>
            <a:ext cx="11430000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11436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6819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72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3BCA8BAD-045F-5449-26C8-1CC7E5D921A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1534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7388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8332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114300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532682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30452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DFD2628-F803-8221-12EB-7198D350225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2231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5928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114300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549798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981200"/>
            <a:ext cx="5562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5562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648970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981200"/>
            <a:ext cx="3657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3657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6">
            <a:extLst>
              <a:ext uri="{FF2B5EF4-FFF2-40B4-BE49-F238E27FC236}">
                <a16:creationId xmlns:a16="http://schemas.microsoft.com/office/drawing/2014/main" id="{8F30C4A1-C250-7BEF-3BC2-9CFB6304F3D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981200"/>
            <a:ext cx="3657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31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Curve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novation Curve">
            <a:extLst>
              <a:ext uri="{FF2B5EF4-FFF2-40B4-BE49-F238E27FC236}">
                <a16:creationId xmlns:a16="http://schemas.microsoft.com/office/drawing/2014/main" id="{8BB232A3-2995-9204-E802-F3C30F0CB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70773" y="2431973"/>
            <a:ext cx="3740227" cy="3740227"/>
          </a:xfrm>
          <a:prstGeom prst="rect">
            <a:avLst/>
          </a:prstGeom>
        </p:spPr>
      </p:pic>
      <p:sp>
        <p:nvSpPr>
          <p:cNvPr id="6" name="Date">
            <a:extLst>
              <a:ext uri="{FF2B5EF4-FFF2-40B4-BE49-F238E27FC236}">
                <a16:creationId xmlns:a16="http://schemas.microsoft.com/office/drawing/2014/main" id="{89BF2500-0204-6794-6117-99484306925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D7F3AF08-D3FE-D48F-2C81-D85ABE9C58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07343D4-00F3-960A-5C32-DA3E33AB59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286000"/>
            <a:ext cx="7239000" cy="3886200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eorgia" panose="02040502050405020303" pitchFamily="18" charset="0"/>
              </a:defRPr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2E2042BF-1D87-6AA4-DDBE-C7FEC20F521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lIns="0" tIns="0" rIns="0" bIns="0"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Section Number">
            <a:extLst>
              <a:ext uri="{FF2B5EF4-FFF2-40B4-BE49-F238E27FC236}">
                <a16:creationId xmlns:a16="http://schemas.microsoft.com/office/drawing/2014/main" id="{4387841E-BCE3-E808-6ADE-02F702DCA4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1000" y="152400"/>
            <a:ext cx="11430000" cy="16002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9" name="InformationType">
            <a:extLst>
              <a:ext uri="{FF2B5EF4-FFF2-40B4-BE49-F238E27FC236}">
                <a16:creationId xmlns:a16="http://schemas.microsoft.com/office/drawing/2014/main" id="{274D0AF7-1A05-1559-4931-0828264A673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10096280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 Curve with Embedded Image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novation Curve Grid">
            <a:extLst>
              <a:ext uri="{FF2B5EF4-FFF2-40B4-BE49-F238E27FC236}">
                <a16:creationId xmlns:a16="http://schemas.microsoft.com/office/drawing/2014/main" id="{5F909AEB-096B-408B-7E00-05020CE68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9100" y="2447060"/>
            <a:ext cx="3718800" cy="3718800"/>
          </a:xfrm>
          <a:prstGeom prst="rect">
            <a:avLst/>
          </a:prstGeom>
        </p:spPr>
      </p:pic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AFEDEDAD-5176-6B46-6061-8EFC6B39060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396000" y="2447060"/>
            <a:ext cx="3718800" cy="3718800"/>
          </a:xfrm>
          <a:custGeom>
            <a:avLst/>
            <a:gdLst>
              <a:gd name="connsiteX0" fmla="*/ 1704548 w 5267271"/>
              <a:gd name="connsiteY0" fmla="*/ 0 h 5272719"/>
              <a:gd name="connsiteX1" fmla="*/ 3527745 w 5267271"/>
              <a:gd name="connsiteY1" fmla="*/ 1774521 h 5272719"/>
              <a:gd name="connsiteX2" fmla="*/ 5267271 w 5267271"/>
              <a:gd name="connsiteY2" fmla="*/ 5269498 h 5272719"/>
              <a:gd name="connsiteX3" fmla="*/ 3509088 w 5267271"/>
              <a:gd name="connsiteY3" fmla="*/ 5269044 h 5272719"/>
              <a:gd name="connsiteX4" fmla="*/ 1794302 w 5267271"/>
              <a:gd name="connsiteY4" fmla="*/ 1858626 h 5272719"/>
              <a:gd name="connsiteX5" fmla="*/ 1794667 w 5267271"/>
              <a:gd name="connsiteY5" fmla="*/ 5270472 h 5272719"/>
              <a:gd name="connsiteX6" fmla="*/ 0 w 5267271"/>
              <a:gd name="connsiteY6" fmla="*/ 5272719 h 5272719"/>
              <a:gd name="connsiteX7" fmla="*/ 3384 w 5267271"/>
              <a:gd name="connsiteY7" fmla="*/ 1714773 h 5272719"/>
              <a:gd name="connsiteX8" fmla="*/ 569360 w 5267271"/>
              <a:gd name="connsiteY8" fmla="*/ 333790 h 5272719"/>
              <a:gd name="connsiteX9" fmla="*/ 1704548 w 5267271"/>
              <a:gd name="connsiteY9" fmla="*/ 0 h 5272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267271" h="5272719">
                <a:moveTo>
                  <a:pt x="1704548" y="0"/>
                </a:moveTo>
                <a:cubicBezTo>
                  <a:pt x="2442328" y="19929"/>
                  <a:pt x="2925708" y="438914"/>
                  <a:pt x="3527745" y="1774521"/>
                </a:cubicBezTo>
                <a:lnTo>
                  <a:pt x="5267271" y="5269498"/>
                </a:lnTo>
                <a:lnTo>
                  <a:pt x="3509088" y="5269044"/>
                </a:lnTo>
                <a:cubicBezTo>
                  <a:pt x="2932089" y="4085847"/>
                  <a:pt x="2376159" y="3052885"/>
                  <a:pt x="1794302" y="1858626"/>
                </a:cubicBezTo>
                <a:cubicBezTo>
                  <a:pt x="1800510" y="2806405"/>
                  <a:pt x="1797959" y="3550976"/>
                  <a:pt x="1794667" y="5270472"/>
                </a:cubicBezTo>
                <a:lnTo>
                  <a:pt x="0" y="5272719"/>
                </a:lnTo>
                <a:cubicBezTo>
                  <a:pt x="6041" y="3933998"/>
                  <a:pt x="-2660" y="3106972"/>
                  <a:pt x="3384" y="1714773"/>
                </a:cubicBezTo>
                <a:cubicBezTo>
                  <a:pt x="20552" y="931022"/>
                  <a:pt x="285832" y="562108"/>
                  <a:pt x="569360" y="333790"/>
                </a:cubicBezTo>
                <a:cubicBezTo>
                  <a:pt x="852888" y="105472"/>
                  <a:pt x="1272212" y="9538"/>
                  <a:pt x="1704548" y="0"/>
                </a:cubicBezTo>
                <a:close/>
              </a:path>
            </a:pathLst>
          </a:custGeom>
          <a:solidFill>
            <a:schemeClr val="tx1">
              <a:lumMod val="75000"/>
            </a:schemeClr>
          </a:solidFill>
          <a:ln w="12700">
            <a:solidFill>
              <a:schemeClr val="tx1">
                <a:lumMod val="65000"/>
              </a:schemeClr>
            </a:solidFill>
          </a:ln>
          <a:effectLst/>
        </p:spPr>
        <p:txBody>
          <a:bodyPr wrap="none" lIns="0" tIns="1371600" rIns="0" anchor="t">
            <a:noAutofit/>
          </a:bodyPr>
          <a:lstStyle>
            <a:lvl1pPr marL="0" indent="0" algn="ctr">
              <a:buFontTx/>
              <a:buNone/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      Click to add picture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8C7EA28C-8B63-7DD1-EDD6-535B46EC3F8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6897360E-9D4A-FD52-676D-E4BF4B702E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725B5FD-E0E9-1E4B-5EFE-D46E0910A6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FA7AEA8C-8EEB-CD6B-7753-A7002EA38C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lIns="0" tIns="0" rIns="0" bIns="0"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Section Number">
            <a:extLst>
              <a:ext uri="{FF2B5EF4-FFF2-40B4-BE49-F238E27FC236}">
                <a16:creationId xmlns:a16="http://schemas.microsoft.com/office/drawing/2014/main" id="{4337322C-F1A6-A8D5-2662-80C365ECE1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9" name="InformationType">
            <a:extLst>
              <a:ext uri="{FF2B5EF4-FFF2-40B4-BE49-F238E27FC236}">
                <a16:creationId xmlns:a16="http://schemas.microsoft.com/office/drawing/2014/main" id="{5872B4FB-4C21-1855-289C-D882501BA88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25376058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idebar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F741D54-F18D-E80B-E1F9-560492621C8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4038600" cy="6858000"/>
          </a:xfrm>
          <a:prstGeom prst="rect">
            <a:avLst/>
          </a:prstGeom>
          <a:solidFill>
            <a:schemeClr val="tx1">
              <a:lumMod val="75000"/>
            </a:schemeClr>
          </a:solidFill>
        </p:spPr>
        <p:txBody>
          <a:bodyPr tIns="2743200"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2" name="Date">
            <a:extLst>
              <a:ext uri="{FF2B5EF4-FFF2-40B4-BE49-F238E27FC236}">
                <a16:creationId xmlns:a16="http://schemas.microsoft.com/office/drawing/2014/main" id="{DF94F6E8-6831-27C9-61B5-A91A50CA571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495800" y="6400800"/>
            <a:ext cx="909320" cy="304799"/>
          </a:xfrm>
          <a:ln w="3175">
            <a:noFill/>
          </a:ln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3F699943-421D-6DD0-F669-4FB435277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479269" y="6400801"/>
            <a:ext cx="2364251" cy="304799"/>
          </a:xfrm>
          <a:ln w="3175">
            <a:noFill/>
          </a:ln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378ED44B-0811-B32D-0C14-3157DD8539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CB869EF-7066-7A3E-AA6F-C7CD49114F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973400" y="6400800"/>
            <a:ext cx="360000" cy="304801"/>
          </a:xfrm>
          <a:ln w="3175">
            <a:noFill/>
          </a:ln>
        </p:spPr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2FA19E7-E40A-0756-7707-A3998AC3C7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9" name="InformationType">
            <a:extLst>
              <a:ext uri="{FF2B5EF4-FFF2-40B4-BE49-F238E27FC236}">
                <a16:creationId xmlns:a16="http://schemas.microsoft.com/office/drawing/2014/main" id="{9B54D94D-E040-EB57-692A-F673B1C004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449720" y="6400031"/>
            <a:ext cx="2065880" cy="30480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89011463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">
            <a:extLst>
              <a:ext uri="{FF2B5EF4-FFF2-40B4-BE49-F238E27FC236}">
                <a16:creationId xmlns:a16="http://schemas.microsoft.com/office/drawing/2014/main" id="{EE784A98-DD2F-9213-B452-0888E8DA50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07FB7D70-C72D-6A53-CBE5-DAE9C28DC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DA1D7C05-6427-2687-6EB6-39368CA8EE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5562600" y="6400800"/>
            <a:ext cx="1066800" cy="304800"/>
          </a:xfrm>
        </p:spPr>
        <p:txBody>
          <a:bodyPr lIns="0" tIns="0" rIns="0" bIns="0"/>
          <a:lstStyle/>
          <a:p>
            <a:pPr algn="ctr"/>
            <a:fld id="{83ADEA99-682E-4231-A4C9-95AE759D37D5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3697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ithou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489298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, Full Innovation Curve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4" name="Innovation Cuver Over">
            <a:extLst>
              <a:ext uri="{FF2B5EF4-FFF2-40B4-BE49-F238E27FC236}">
                <a16:creationId xmlns:a16="http://schemas.microsoft.com/office/drawing/2014/main" id="{B6F394B1-2E3B-BF77-C553-C0A61B075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00574" y="3733800"/>
            <a:ext cx="2723626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63438233-72EE-8BA4-9BBA-043E2EBD6617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/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2" name="Main Title">
            <a:extLst>
              <a:ext uri="{FF2B5EF4-FFF2-40B4-BE49-F238E27FC236}">
                <a16:creationId xmlns:a16="http://schemas.microsoft.com/office/drawing/2014/main" id="{2D27416B-E7EB-58FC-6089-EFC25F90F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066800"/>
            <a:ext cx="11430000" cy="13716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95537A3D-A82B-E164-8992-B04EE50C035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848600" y="3049200"/>
            <a:ext cx="39624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3FB62210-704E-0AA6-FD3C-50952599D5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3518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32734274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, Full Innovation Curve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4" name="Innovation Curve Over">
            <a:extLst>
              <a:ext uri="{FF2B5EF4-FFF2-40B4-BE49-F238E27FC236}">
                <a16:creationId xmlns:a16="http://schemas.microsoft.com/office/drawing/2014/main" id="{B8631883-9801-E2CA-CA11-CDED97BC79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067800" y="3733800"/>
            <a:ext cx="2741663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88AC34A6-2AC7-FC55-26A6-E925A628AC5C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/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2D27416B-E7EB-58FC-6089-EFC25F90F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066800"/>
            <a:ext cx="11430000" cy="13716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38082150-82CC-B102-D30B-562E582481E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43800" y="3049200"/>
            <a:ext cx="42672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C8CF5306-C118-5506-EE7B-F7E980B08BB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3518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4519580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nnovation Curve">
            <a:extLst>
              <a:ext uri="{FF2B5EF4-FFF2-40B4-BE49-F238E27FC236}">
                <a16:creationId xmlns:a16="http://schemas.microsoft.com/office/drawing/2014/main" id="{EDBA60DD-C22A-9316-ED2B-2ACC0A685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4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4" name="Date">
            <a:extLst>
              <a:ext uri="{FF2B5EF4-FFF2-40B4-BE49-F238E27FC236}">
                <a16:creationId xmlns:a16="http://schemas.microsoft.com/office/drawing/2014/main" id="{D755FCDF-1757-0DDE-B664-6E18DF38351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48006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D1339E27-17FE-46DF-AFFB-73BFB11533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8" name="InformationType">
            <a:extLst>
              <a:ext uri="{FF2B5EF4-FFF2-40B4-BE49-F238E27FC236}">
                <a16:creationId xmlns:a16="http://schemas.microsoft.com/office/drawing/2014/main" id="{97777627-C09C-D1AD-CBD9-F5839460373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82116090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a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nnovation Curve">
            <a:extLst>
              <a:ext uri="{FF2B5EF4-FFF2-40B4-BE49-F238E27FC236}">
                <a16:creationId xmlns:a16="http://schemas.microsoft.com/office/drawing/2014/main" id="{8FFE6425-34ED-5DB9-865C-1158B7140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4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16218" y="-9334"/>
            <a:ext cx="4686799" cy="6867334"/>
          </a:xfrm>
          <a:prstGeom prst="rect">
            <a:avLst/>
          </a:prstGeom>
        </p:spPr>
      </p:pic>
      <p:sp>
        <p:nvSpPr>
          <p:cNvPr id="6" name="Date">
            <a:extLst>
              <a:ext uri="{FF2B5EF4-FFF2-40B4-BE49-F238E27FC236}">
                <a16:creationId xmlns:a16="http://schemas.microsoft.com/office/drawing/2014/main" id="{40435473-34D1-21A2-6355-15C49B8978DA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69342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69342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F59C948C-D3BF-CA4F-F542-ED2CE628FBF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4E848DEC-7A87-3CD5-E950-EEB6859D9E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5459142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59C9CC77-3312-DF50-2217-E80EE44FA30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721CA36-DC1A-9DA0-482B-013C59CEC0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81000" y="3810000"/>
            <a:ext cx="11430000" cy="533400"/>
          </a:xfrm>
          <a:prstGeom prst="rect">
            <a:avLst/>
          </a:prstGeom>
        </p:spPr>
        <p:txBody>
          <a:bodyPr lIns="0" tIns="45720" rIns="0"/>
          <a:lstStyle>
            <a:lvl1pPr algn="l"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5" name="Legal">
            <a:extLst>
              <a:ext uri="{FF2B5EF4-FFF2-40B4-BE49-F238E27FC236}">
                <a16:creationId xmlns:a16="http://schemas.microsoft.com/office/drawing/2014/main" id="{5B8528D5-DF0F-FF95-7F24-C0763AA92F4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72020407-B4FE-1152-B230-32A0A4A0333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417864586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9224E-6D9A-F20A-E95C-3BD86FD1C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D3C075-3634-BEB1-AB31-623AD293F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657D48-2016-6562-8C30-A2CF18ED1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B9585-B814-96B8-821F-CFBD1EE52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2194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371600"/>
            <a:ext cx="11430000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7450576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61378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72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3BCA8BAD-045F-5449-26C8-1CC7E5D921A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1534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2336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1013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114300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7117446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832653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DFD2628-F803-8221-12EB-7198D350225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15089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8112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114300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559949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981200"/>
            <a:ext cx="5562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5562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2411410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981200"/>
            <a:ext cx="3657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3657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6">
            <a:extLst>
              <a:ext uri="{FF2B5EF4-FFF2-40B4-BE49-F238E27FC236}">
                <a16:creationId xmlns:a16="http://schemas.microsoft.com/office/drawing/2014/main" id="{8F30C4A1-C250-7BEF-3BC2-9CFB6304F3D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981200"/>
            <a:ext cx="3657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16576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Curve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novation Curve">
            <a:extLst>
              <a:ext uri="{FF2B5EF4-FFF2-40B4-BE49-F238E27FC236}">
                <a16:creationId xmlns:a16="http://schemas.microsoft.com/office/drawing/2014/main" id="{DFF4120D-EB83-4D10-1920-DB2F8C95AB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8077200" y="2438400"/>
            <a:ext cx="3746500" cy="3748601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b="0" i="0" kern="1200">
                <a:noFill/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noFill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noFill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noFill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noFill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830032E3-666E-86B5-7060-5C2D96D8BFA3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07343D4-00F3-960A-5C32-DA3E33AB59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286000"/>
            <a:ext cx="72390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2E2042BF-1D87-6AA4-DDBE-C7FEC20F521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Section Number">
            <a:extLst>
              <a:ext uri="{FF2B5EF4-FFF2-40B4-BE49-F238E27FC236}">
                <a16:creationId xmlns:a16="http://schemas.microsoft.com/office/drawing/2014/main" id="{4387841E-BCE3-E808-6ADE-02F702DCA4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1000" y="152400"/>
            <a:ext cx="11430000" cy="1676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14DA6E1C-9D47-E410-7BE5-64AAE327524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CAFFB951-27A9-5EF6-ACC5-3BE5CDB3578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8055723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 Curve with Embedded Image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novation Curve">
            <a:extLst>
              <a:ext uri="{FF2B5EF4-FFF2-40B4-BE49-F238E27FC236}">
                <a16:creationId xmlns:a16="http://schemas.microsoft.com/office/drawing/2014/main" id="{981C731B-323B-2B27-B941-0443635D7D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2438400"/>
            <a:ext cx="3739084" cy="3739084"/>
          </a:xfrm>
          <a:prstGeom prst="rect">
            <a:avLst/>
          </a:prstGeom>
        </p:spPr>
      </p:pic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AFEDEDAD-5176-6B46-6061-8EFC6B39060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396000" y="2447060"/>
            <a:ext cx="3718800" cy="3718800"/>
          </a:xfrm>
          <a:custGeom>
            <a:avLst/>
            <a:gdLst>
              <a:gd name="connsiteX0" fmla="*/ 1704548 w 5267271"/>
              <a:gd name="connsiteY0" fmla="*/ 0 h 5272719"/>
              <a:gd name="connsiteX1" fmla="*/ 3527745 w 5267271"/>
              <a:gd name="connsiteY1" fmla="*/ 1774521 h 5272719"/>
              <a:gd name="connsiteX2" fmla="*/ 5267271 w 5267271"/>
              <a:gd name="connsiteY2" fmla="*/ 5269498 h 5272719"/>
              <a:gd name="connsiteX3" fmla="*/ 3509088 w 5267271"/>
              <a:gd name="connsiteY3" fmla="*/ 5269044 h 5272719"/>
              <a:gd name="connsiteX4" fmla="*/ 1794302 w 5267271"/>
              <a:gd name="connsiteY4" fmla="*/ 1858626 h 5272719"/>
              <a:gd name="connsiteX5" fmla="*/ 1794667 w 5267271"/>
              <a:gd name="connsiteY5" fmla="*/ 5270472 h 5272719"/>
              <a:gd name="connsiteX6" fmla="*/ 0 w 5267271"/>
              <a:gd name="connsiteY6" fmla="*/ 5272719 h 5272719"/>
              <a:gd name="connsiteX7" fmla="*/ 3384 w 5267271"/>
              <a:gd name="connsiteY7" fmla="*/ 1714773 h 5272719"/>
              <a:gd name="connsiteX8" fmla="*/ 569360 w 5267271"/>
              <a:gd name="connsiteY8" fmla="*/ 333790 h 5272719"/>
              <a:gd name="connsiteX9" fmla="*/ 1704548 w 5267271"/>
              <a:gd name="connsiteY9" fmla="*/ 0 h 5272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267271" h="5272719">
                <a:moveTo>
                  <a:pt x="1704548" y="0"/>
                </a:moveTo>
                <a:cubicBezTo>
                  <a:pt x="2442328" y="19929"/>
                  <a:pt x="2925708" y="438914"/>
                  <a:pt x="3527745" y="1774521"/>
                </a:cubicBezTo>
                <a:lnTo>
                  <a:pt x="5267271" y="5269498"/>
                </a:lnTo>
                <a:lnTo>
                  <a:pt x="3509088" y="5269044"/>
                </a:lnTo>
                <a:cubicBezTo>
                  <a:pt x="2932089" y="4085847"/>
                  <a:pt x="2376159" y="3052885"/>
                  <a:pt x="1794302" y="1858626"/>
                </a:cubicBezTo>
                <a:cubicBezTo>
                  <a:pt x="1800510" y="2806405"/>
                  <a:pt x="1797959" y="3550976"/>
                  <a:pt x="1794667" y="5270472"/>
                </a:cubicBezTo>
                <a:lnTo>
                  <a:pt x="0" y="5272719"/>
                </a:lnTo>
                <a:cubicBezTo>
                  <a:pt x="6041" y="3933998"/>
                  <a:pt x="-2660" y="3106972"/>
                  <a:pt x="3384" y="1714773"/>
                </a:cubicBezTo>
                <a:cubicBezTo>
                  <a:pt x="20552" y="931022"/>
                  <a:pt x="285832" y="562108"/>
                  <a:pt x="569360" y="333790"/>
                </a:cubicBezTo>
                <a:cubicBezTo>
                  <a:pt x="852888" y="105472"/>
                  <a:pt x="1272212" y="9538"/>
                  <a:pt x="1704548" y="0"/>
                </a:cubicBezTo>
                <a:close/>
              </a:path>
            </a:pathLst>
          </a:custGeom>
          <a:solidFill>
            <a:schemeClr val="tx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txBody>
          <a:bodyPr wrap="none" lIns="0" tIns="1371600" rIns="0" anchor="t">
            <a:noAutofit/>
          </a:bodyPr>
          <a:lstStyle>
            <a:lvl1pPr marL="0" indent="0" algn="ctr">
              <a:buFontTx/>
              <a:buNone/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      Click to add picture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3D107E1D-6F9E-D5D4-23A0-05F41092BB8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725B5FD-E0E9-1E4B-5EFE-D46E0910A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FA7AEA8C-8EEB-CD6B-7753-A7002EA38C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Section Number">
            <a:extLst>
              <a:ext uri="{FF2B5EF4-FFF2-40B4-BE49-F238E27FC236}">
                <a16:creationId xmlns:a16="http://schemas.microsoft.com/office/drawing/2014/main" id="{4337322C-F1A6-A8D5-2662-80C365ECE1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BC88EBEC-A4D1-CC23-6E08-93BFBE3DE1C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44FEAAAB-EE18-CB5D-44C6-310E6AB57A1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12330969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idebar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F741D54-F18D-E80B-E1F9-560492621C8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4038600" cy="6858000"/>
          </a:xfrm>
          <a:prstGeom prst="rect">
            <a:avLst/>
          </a:prstGeom>
          <a:solidFill>
            <a:schemeClr val="tx1">
              <a:lumMod val="75000"/>
            </a:schemeClr>
          </a:solidFill>
        </p:spPr>
        <p:txBody>
          <a:bodyPr tIns="2743200"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299D4CB7-B560-6AA7-879A-088302D3D0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5800" y="6400801"/>
            <a:ext cx="909320" cy="304800"/>
          </a:xfrm>
          <a:prstGeom prst="rect">
            <a:avLst/>
          </a:prstGeom>
          <a:ln w="3175">
            <a:noFill/>
          </a:ln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A8AAD6E7-7C26-418D-0B14-EA5390FD8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CB869EF-7066-7A3E-AA6F-C7CD49114F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793400" y="6400800"/>
            <a:ext cx="720000" cy="304800"/>
          </a:xfrm>
          <a:ln w="3175">
            <a:noFill/>
          </a:ln>
        </p:spPr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2FA19E7-E40A-0756-7707-A3998AC3C7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2" name="Legal">
            <a:extLst>
              <a:ext uri="{FF2B5EF4-FFF2-40B4-BE49-F238E27FC236}">
                <a16:creationId xmlns:a16="http://schemas.microsoft.com/office/drawing/2014/main" id="{633C7958-CA9A-A92F-B7E7-8B7973238C8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5479269" y="6400800"/>
            <a:ext cx="2222011" cy="303168"/>
          </a:xfrm>
          <a:ln w="3175">
            <a:noFill/>
          </a:ln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8" name="InformationType">
            <a:extLst>
              <a:ext uri="{FF2B5EF4-FFF2-40B4-BE49-F238E27FC236}">
                <a16:creationId xmlns:a16="http://schemas.microsoft.com/office/drawing/2014/main" id="{9412A306-2B7E-0534-2F4D-01807ACD929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10600" y="6400031"/>
            <a:ext cx="175260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5328261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">
            <a:extLst>
              <a:ext uri="{FF2B5EF4-FFF2-40B4-BE49-F238E27FC236}">
                <a16:creationId xmlns:a16="http://schemas.microsoft.com/office/drawing/2014/main" id="{F8661FD8-3372-AC27-F2C7-692F6A0DB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2F375C79-AE51-6B41-D9FC-0E2F9917F2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DA1D7C05-6427-2687-6EB6-39368CA8EE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83ADEA99-682E-4231-A4C9-95AE759D37D5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5827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ithou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119822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ture Blu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TT DATA Global Logo" descr="NTT DATA Global Logo">
            <a:extLst>
              <a:ext uri="{FF2B5EF4-FFF2-40B4-BE49-F238E27FC236}">
                <a16:creationId xmlns:a16="http://schemas.microsoft.com/office/drawing/2014/main" id="{2A4A4756-BF09-2DAA-9B2B-7274ADF973F2}"/>
              </a:ext>
            </a:extLst>
          </p:cNvPr>
          <p:cNvSpPr/>
          <p:nvPr userDrawn="1"/>
        </p:nvSpPr>
        <p:spPr bwMode="black">
          <a:xfrm>
            <a:off x="3403470" y="2880360"/>
            <a:ext cx="5385061" cy="1097280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FFFFFF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10293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Navy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TT DATA Global Logo" descr="NTT DATA Global Logo">
            <a:extLst>
              <a:ext uri="{FF2B5EF4-FFF2-40B4-BE49-F238E27FC236}">
                <a16:creationId xmlns:a16="http://schemas.microsoft.com/office/drawing/2014/main" id="{1615296B-7D86-833D-E6BA-B94DB6EC001E}"/>
              </a:ext>
            </a:extLst>
          </p:cNvPr>
          <p:cNvSpPr/>
          <p:nvPr userDrawn="1"/>
        </p:nvSpPr>
        <p:spPr bwMode="black">
          <a:xfrm>
            <a:off x="3403470" y="2880360"/>
            <a:ext cx="5385061" cy="1097280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FFFFFF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90058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TT DATA Global Logo" descr="NTT DATA Global Logo">
            <a:extLst>
              <a:ext uri="{FF2B5EF4-FFF2-40B4-BE49-F238E27FC236}">
                <a16:creationId xmlns:a16="http://schemas.microsoft.com/office/drawing/2014/main" id="{9B1656D1-90B8-BAEC-BAE1-40408FA32F2C}"/>
              </a:ext>
            </a:extLst>
          </p:cNvPr>
          <p:cNvSpPr/>
          <p:nvPr userDrawn="1"/>
        </p:nvSpPr>
        <p:spPr bwMode="black">
          <a:xfrm>
            <a:off x="3403470" y="2880360"/>
            <a:ext cx="5385061" cy="1097280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accent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028668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0">
            <a:extLst>
              <a:ext uri="{FF2B5EF4-FFF2-40B4-BE49-F238E27FC236}">
                <a16:creationId xmlns:a16="http://schemas.microsoft.com/office/drawing/2014/main" id="{0D73EB22-28B8-EDF3-DAF5-3AC807C66A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NTT DATA Global Logo" descr="NTT DATA Global Logo">
            <a:extLst>
              <a:ext uri="{FF2B5EF4-FFF2-40B4-BE49-F238E27FC236}">
                <a16:creationId xmlns:a16="http://schemas.microsoft.com/office/drawing/2014/main" id="{534A451C-A194-D71D-4CF6-5B22A3878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333909" y="2865120"/>
            <a:ext cx="5524182" cy="1127760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Picture Placeholder 4">
            <a:extLst>
              <a:ext uri="{FF2B5EF4-FFF2-40B4-BE49-F238E27FC236}">
                <a16:creationId xmlns:a16="http://schemas.microsoft.com/office/drawing/2014/main" id="{2F858FA1-7D21-8F05-79E4-62B789D77D0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</p:spTree>
    <p:extLst>
      <p:ext uri="{BB962C8B-B14F-4D97-AF65-F5344CB8AC3E}">
        <p14:creationId xmlns:p14="http://schemas.microsoft.com/office/powerpoint/2010/main" val="394159215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slideLayout" Target="../slideLayouts/slideLayout10.xml"/><Relationship Id="rId3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5.xml"/><Relationship Id="rId8" Type="http://schemas.openxmlformats.org/officeDocument/2006/relationships/slideLayout" Target="../slideLayouts/slideLayout16.xml"/><Relationship Id="rId9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slideLayout" Target="../slideLayouts/slideLayout37.xml"/><Relationship Id="rId8" Type="http://schemas.openxmlformats.org/officeDocument/2006/relationships/slideLayout" Target="../slideLayouts/slideLayout38.xml"/><Relationship Id="rId9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slideLayout" Target="../slideLayouts/slideLayout40.xml"/><Relationship Id="rId3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2.xml"/><Relationship Id="rId5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4.xml"/><Relationship Id="rId3" Type="http://schemas.openxmlformats.org/officeDocument/2006/relationships/slideLayout" Target="../slideLayouts/slideLayout45.xml"/><Relationship Id="rId4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theme" Target="../theme/theme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C3A244F4-DCC8-926C-C40B-97795E7EE6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F8F8F8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9" name="Legal">
            <a:extLst>
              <a:ext uri="{FF2B5EF4-FFF2-40B4-BE49-F238E27FC236}">
                <a16:creationId xmlns:a16="http://schemas.microsoft.com/office/drawing/2014/main" id="{326E4B9D-7B25-6F98-95C6-44F5E186EA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r>
              <a:rPr lang="en-CA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806375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40" r:id="rId1"/>
    <p:sldLayoutId id="2147484241" r:id="rId2"/>
    <p:sldLayoutId id="2147484242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rgbClr val="F8F8F8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6ACE2E93-F0C6-496C-92F8-919FE55763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5" name="Footer Placeholder 8">
            <a:extLst>
              <a:ext uri="{FF2B5EF4-FFF2-40B4-BE49-F238E27FC236}">
                <a16:creationId xmlns:a16="http://schemas.microsoft.com/office/drawing/2014/main" id="{6F6F2F78-2ADE-918C-2B29-50DDCEC82C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0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6" name="NTT DATA Global Logo" descr="NTT DATA Global Logo">
            <a:extLst>
              <a:ext uri="{FF2B5EF4-FFF2-40B4-BE49-F238E27FC236}">
                <a16:creationId xmlns:a16="http://schemas.microsoft.com/office/drawing/2014/main" id="{9BB150AA-7E16-0669-0BE0-D2DE680F91CD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961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8" r:id="rId1"/>
    <p:sldLayoutId id="2147484079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chemeClr val="bg1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">
            <a:extLst>
              <a:ext uri="{FF2B5EF4-FFF2-40B4-BE49-F238E27FC236}">
                <a16:creationId xmlns:a16="http://schemas.microsoft.com/office/drawing/2014/main" id="{2B77F751-4A73-F5B2-46BF-FA8F83187E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5" name="Legal">
            <a:extLst>
              <a:ext uri="{FF2B5EF4-FFF2-40B4-BE49-F238E27FC236}">
                <a16:creationId xmlns:a16="http://schemas.microsoft.com/office/drawing/2014/main" id="{169877AF-B46D-3BC5-5B99-8D6306414C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NTT DATA Global Logo" descr="NTT DATA Global Logo">
            <a:extLst>
              <a:ext uri="{FF2B5EF4-FFF2-40B4-BE49-F238E27FC236}">
                <a16:creationId xmlns:a16="http://schemas.microsoft.com/office/drawing/2014/main" id="{993E904F-F143-F66C-80F2-44AF6A64563C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535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2" r:id="rId1"/>
    <p:sldLayoutId id="2147484073" r:id="rId2"/>
    <p:sldLayoutId id="2147484074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chemeClr val="bg1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rgbClr val="050D24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5333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371600"/>
            <a:ext cx="11430000" cy="48768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E4A297F2-4804-B5AA-637C-78C8A88550D2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730919A-842B-324C-CCDA-7945A8CEB2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2"/>
                </a:solidFill>
              </a:defRPr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4052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01" r:id="rId1"/>
    <p:sldLayoutId id="2147484202" r:id="rId2"/>
    <p:sldLayoutId id="2147484186" r:id="rId3"/>
    <p:sldLayoutId id="2147484195" r:id="rId4"/>
    <p:sldLayoutId id="2147484196" r:id="rId5"/>
    <p:sldLayoutId id="2147484197" r:id="rId6"/>
    <p:sldLayoutId id="2147484198" r:id="rId7"/>
    <p:sldLayoutId id="2147484199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800" kern="1200" dirty="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A58B4-77D9-E987-C197-DA4CB60F70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2"/>
                </a:solidFill>
              </a:defRPr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04FD1337-5DF6-30A3-4131-6B12D60DB5C4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8874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30" r:id="rId1"/>
    <p:sldLayoutId id="2147484231" r:id="rId2"/>
    <p:sldLayoutId id="2147484232" r:id="rId3"/>
    <p:sldLayoutId id="2147484233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kern="1200" dirty="0">
          <a:solidFill>
            <a:schemeClr val="bg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ate">
            <a:extLst>
              <a:ext uri="{FF2B5EF4-FFF2-40B4-BE49-F238E27FC236}">
                <a16:creationId xmlns:a16="http://schemas.microsoft.com/office/drawing/2014/main" id="{933C1A37-ACD8-D48C-2A9C-184E81D40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393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17" name="Legal">
            <a:extLst>
              <a:ext uri="{FF2B5EF4-FFF2-40B4-BE49-F238E27FC236}">
                <a16:creationId xmlns:a16="http://schemas.microsoft.com/office/drawing/2014/main" id="{BDF70361-4B6B-3910-FF6C-ECC5D8C51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394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286000"/>
            <a:ext cx="7315200" cy="2667000"/>
          </a:xfrm>
          <a:prstGeom prst="rect">
            <a:avLst/>
          </a:prstGeom>
        </p:spPr>
        <p:txBody>
          <a:bodyPr vert="horz" lIns="0" tIns="0" rIns="0" bIns="45720" rtlCol="0" anchor="t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EDC08B3B-0173-8E52-C079-CC15406A8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031"/>
          </a:xfrm>
          <a:prstGeom prst="rect">
            <a:avLst/>
          </a:prstGeom>
          <a:ln w="3175">
            <a:noFill/>
          </a:ln>
        </p:spPr>
        <p:txBody>
          <a:bodyPr lIns="0" tIns="0" rIns="0" bIns="0" anchor="ctr"/>
          <a:lstStyle>
            <a:lvl1pPr algn="ctr">
              <a:defRPr lang="en-US" sz="800" noProof="0" smtClean="0">
                <a:solidFill>
                  <a:schemeClr val="tx2"/>
                </a:solidFill>
              </a:defRPr>
            </a:lvl1pPr>
          </a:lstStyle>
          <a:p>
            <a:fld id="{58D24BC2-2B9E-4076-8133-31C4983A0EB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NTT DATA Global Logo">
            <a:extLst>
              <a:ext uri="{FF2B5EF4-FFF2-40B4-BE49-F238E27FC236}">
                <a16:creationId xmlns:a16="http://schemas.microsoft.com/office/drawing/2014/main" id="{ACF67C27-B40E-34F0-C726-29EAECB10D3A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8085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51" r:id="rId1"/>
    <p:sldLayoutId id="2147484152" r:id="rId2"/>
    <p:sldLayoutId id="2147484153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chemeClr val="bg1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">
            <a:extLst>
              <a:ext uri="{FF2B5EF4-FFF2-40B4-BE49-F238E27FC236}">
                <a16:creationId xmlns:a16="http://schemas.microsoft.com/office/drawing/2014/main" id="{349E4B0B-2645-B2A3-8226-132DADE9E0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ED1211A4-6D56-BCC0-9645-3000A06B6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CCEEA4F-B2F9-F5FD-831B-C14426169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lIns="0" tIns="0" rIns="0" bIns="0" anchor="ctr"/>
          <a:lstStyle>
            <a:lvl1pPr>
              <a:defRPr lang="en-US" sz="800" noProof="0" smtClean="0">
                <a:solidFill>
                  <a:schemeClr val="tx2"/>
                </a:solidFill>
              </a:defRPr>
            </a:lvl1pPr>
          </a:lstStyle>
          <a:p>
            <a:pPr algn="ctr"/>
            <a:fld id="{83ADEA99-682E-4231-A4C9-95AE759D37D5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2" name="NTT DATA Global Logo">
            <a:extLst>
              <a:ext uri="{FF2B5EF4-FFF2-40B4-BE49-F238E27FC236}">
                <a16:creationId xmlns:a16="http://schemas.microsoft.com/office/drawing/2014/main" id="{BCFF8549-A65D-657A-573F-06333E7CA78B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67179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55" r:id="rId1"/>
    <p:sldLayoutId id="2147484156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rgbClr val="2E404D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">
            <a:extLst>
              <a:ext uri="{FF2B5EF4-FFF2-40B4-BE49-F238E27FC236}">
                <a16:creationId xmlns:a16="http://schemas.microsoft.com/office/drawing/2014/main" id="{634BA0EC-9CEF-D6D5-870B-6C584540BA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5" name="Legal">
            <a:extLst>
              <a:ext uri="{FF2B5EF4-FFF2-40B4-BE49-F238E27FC236}">
                <a16:creationId xmlns:a16="http://schemas.microsoft.com/office/drawing/2014/main" id="{E10867FC-9AA0-D55B-9EAE-A4F0F6197B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6" name="NTT DATA Global Logo" descr="NTT DATA Global Logo">
            <a:extLst>
              <a:ext uri="{FF2B5EF4-FFF2-40B4-BE49-F238E27FC236}">
                <a16:creationId xmlns:a16="http://schemas.microsoft.com/office/drawing/2014/main" id="{3C36CBDA-07E1-6588-F97E-5F366DDBDF53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624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9" r:id="rId1"/>
    <p:sldLayoutId id="2147484050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rgbClr val="F8F8F8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">
            <a:extLst>
              <a:ext uri="{FF2B5EF4-FFF2-40B4-BE49-F238E27FC236}">
                <a16:creationId xmlns:a16="http://schemas.microsoft.com/office/drawing/2014/main" id="{1186516B-39F7-0349-EBD6-2E8D804DAB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F8F8F8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AFA71394-3F9A-5F92-B57D-92D1ABAED6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NTT DATA Global Logo" descr="NTT DATA Global Logo">
            <a:extLst>
              <a:ext uri="{FF2B5EF4-FFF2-40B4-BE49-F238E27FC236}">
                <a16:creationId xmlns:a16="http://schemas.microsoft.com/office/drawing/2014/main" id="{18254DDE-CB0C-92D7-A6B5-768C00414CCB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7475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55" r:id="rId1"/>
    <p:sldLayoutId id="2147484056" r:id="rId2"/>
    <p:sldLayoutId id="2147484057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5400" b="0" i="0" kern="1200" dirty="0">
          <a:solidFill>
            <a:srgbClr val="F8F8F8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5333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371600"/>
            <a:ext cx="11430000" cy="480536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A58B4-77D9-E987-C197-DA4CB60F70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1"/>
                </a:solidFill>
              </a:defRPr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NTT DATA Global Logo">
            <a:extLst>
              <a:ext uri="{FF2B5EF4-FFF2-40B4-BE49-F238E27FC236}">
                <a16:creationId xmlns:a16="http://schemas.microsoft.com/office/drawing/2014/main" id="{EE0929A7-1D82-E58C-7D80-4E5ADC6ECCAE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1418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04" r:id="rId1"/>
    <p:sldLayoutId id="2147484205" r:id="rId2"/>
    <p:sldLayoutId id="2147484206" r:id="rId3"/>
    <p:sldLayoutId id="2147484207" r:id="rId4"/>
    <p:sldLayoutId id="2147484208" r:id="rId5"/>
    <p:sldLayoutId id="2147484209" r:id="rId6"/>
    <p:sldLayoutId id="2147484210" r:id="rId7"/>
    <p:sldLayoutId id="2147484211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800" kern="1200" dirty="0">
          <a:solidFill>
            <a:schemeClr val="tx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676400"/>
            <a:ext cx="11430000" cy="45720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A58B4-77D9-E987-C197-DA4CB60F70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NTT DATA Global Logo">
            <a:extLst>
              <a:ext uri="{FF2B5EF4-FFF2-40B4-BE49-F238E27FC236}">
                <a16:creationId xmlns:a16="http://schemas.microsoft.com/office/drawing/2014/main" id="{FCB66863-8379-6B12-AF6C-4FED25C397A8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29843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25" r:id="rId1"/>
    <p:sldLayoutId id="2147484226" r:id="rId2"/>
    <p:sldLayoutId id="2147484227" r:id="rId3"/>
    <p:sldLayoutId id="2147484228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kern="1200" dirty="0">
          <a:solidFill>
            <a:srgbClr val="19A3FC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">
            <a:extLst>
              <a:ext uri="{FF2B5EF4-FFF2-40B4-BE49-F238E27FC236}">
                <a16:creationId xmlns:a16="http://schemas.microsoft.com/office/drawing/2014/main" id="{50A5D791-A482-EDEF-8A3C-D4FB9FECC6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1"/>
            <a:ext cx="914400" cy="304799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286000"/>
            <a:ext cx="7315200" cy="2667000"/>
          </a:xfrm>
          <a:prstGeom prst="rect">
            <a:avLst/>
          </a:prstGeom>
        </p:spPr>
        <p:txBody>
          <a:bodyPr vert="horz" lIns="0" tIns="0" rIns="0" bIns="45720" rtlCol="0" anchor="t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755F9A41-F068-F62B-8D77-AD45E3E7D8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1"/>
            <a:ext cx="4114801" cy="304799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EDC08B3B-0173-8E52-C079-CC15406A8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1"/>
            <a:ext cx="1066800" cy="304799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noProof="0" smtClean="0"/>
            </a:lvl1pPr>
          </a:lstStyle>
          <a:p>
            <a:fld id="{58D24BC2-2B9E-4076-8133-31C4983A0EB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61F51151-8636-CEBB-0FAC-0AB69057D5BD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499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72" r:id="rId1"/>
    <p:sldLayoutId id="2147484173" r:id="rId2"/>
    <p:sldLayoutId id="2147484174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rgbClr val="FFFFFF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">
            <a:extLst>
              <a:ext uri="{FF2B5EF4-FFF2-40B4-BE49-F238E27FC236}">
                <a16:creationId xmlns:a16="http://schemas.microsoft.com/office/drawing/2014/main" id="{A0A625B7-9DEA-C2F4-8B8D-108176C109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1801358D-6256-A5EC-0C43-E4F553ECF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CCEEA4F-B2F9-F5FD-831B-C14426169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noProof="0" smtClean="0"/>
            </a:lvl1pPr>
          </a:lstStyle>
          <a:p>
            <a:fld id="{83ADEA99-682E-4231-A4C9-95AE759D37D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NTT DATA Global Logo">
            <a:extLst>
              <a:ext uri="{FF2B5EF4-FFF2-40B4-BE49-F238E27FC236}">
                <a16:creationId xmlns:a16="http://schemas.microsoft.com/office/drawing/2014/main" id="{3670AC95-C36A-F554-275E-8EA8BC640A1F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626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76" r:id="rId1"/>
    <p:sldLayoutId id="2147484177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rgbClr val="2E404D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5033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35" r:id="rId1"/>
    <p:sldLayoutId id="2147484236" r:id="rId2"/>
    <p:sldLayoutId id="2147484237" r:id="rId3"/>
    <p:sldLayoutId id="2147484238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25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Por que essa conversa, agora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DORA 2025 · State of AI-assisted Software Development · Google Cloud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28800"/>
            <a:ext cx="3493008" cy="1600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298094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i="0">
                <a:solidFill>
                  <a:srgbClr val="0072BC"/>
                </a:solidFill>
                <a:latin typeface="Georgia"/>
              </a:rPr>
              <a:t>90%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97480"/>
            <a:ext cx="298094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dos profissionais de</a:t>
            </a:r>
          </a:p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software já usam 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53127" y="1828800"/>
            <a:ext cx="3493008" cy="1600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59" y="2011680"/>
            <a:ext cx="298094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i="0">
                <a:solidFill>
                  <a:srgbClr val="0072BC"/>
                </a:solidFill>
                <a:latin typeface="Georgia"/>
              </a:rPr>
              <a:t>2h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59" y="2697480"/>
            <a:ext cx="298094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por dia, na mediana,</a:t>
            </a:r>
          </a:p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trabalhando com 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7888" y="1828800"/>
            <a:ext cx="3493008" cy="1600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19" y="2011680"/>
            <a:ext cx="298094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400" b="1" i="0">
                <a:solidFill>
                  <a:srgbClr val="06B941"/>
                </a:solidFill>
                <a:latin typeface="Georgia"/>
              </a:rPr>
              <a:t>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2697480"/>
            <a:ext cx="298094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throughput de entrega</a:t>
            </a:r>
          </a:p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subiu com a adoção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703320"/>
            <a:ext cx="10874959" cy="10515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32688" y="3977639"/>
            <a:ext cx="384048" cy="38404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9776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9616" y="391363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E a estabilidade da entrega caiu.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9616" y="4279392"/>
            <a:ext cx="9601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A6675"/>
                </a:solidFill>
                <a:latin typeface="Arial"/>
              </a:rPr>
              <a:t>Mais volume sem teste automatizado e feedback rápido vira mais incidente.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Fonte: DORA 2025 — State of AI-assisted Software Development, Google Cloud.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IA amplifica o que já existe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A6675"/>
                </a:solidFill>
                <a:latin typeface="Arial"/>
              </a:rPr>
              <a:t>O valor não vem da ferramenta. Vem das práticas ao redor dela.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94560"/>
            <a:ext cx="5349240" cy="19659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2395728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6B941"/>
                </a:solidFill>
                <a:latin typeface="Arial"/>
              </a:rPr>
              <a:t>Time com base boa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788920"/>
            <a:ext cx="4800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>teste automatizado, versionamento maduro,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>feedback rápido, escopo escrito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>→ entrega mais e mantém estabilidade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7647" y="2194560"/>
            <a:ext cx="5349240" cy="19659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01968" y="2395728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22000"/>
                </a:solidFill>
                <a:latin typeface="Arial"/>
              </a:rPr>
              <a:t>Time sem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1968" y="2788920"/>
            <a:ext cx="4800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>sem teste, sem escopo, sem review de verdade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>→ entrega mais rápido o problema também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43484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70F26"/>
                </a:solidFill>
                <a:latin typeface="Arial"/>
              </a:rPr>
              <a:t>A pergunta não é “usar ou não usar IA”. É o que precisa existir antes para que ela ajude.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Duas frentes, dois modos de usar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que funciona em uma não funciona na outra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28800"/>
            <a:ext cx="5349240" cy="237744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057400"/>
            <a:ext cx="47640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rial"/>
              </a:rPr>
              <a:t>TROUBLESHOOTING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514600"/>
            <a:ext cx="4764024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CFE6F7"/>
                </a:solidFill>
                <a:latin typeface="Arial"/>
              </a:rPr>
              <a:t>O problema já existe.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CFE6F7"/>
                </a:solidFill>
                <a:latin typeface="Arial"/>
              </a:rPr>
              <a:t>Você precisa achar a causa.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CFE6F7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CFE6F7"/>
                </a:solidFill>
                <a:latin typeface="Arial"/>
              </a:rPr>
              <a:t>A régua é: quanto você já sabe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CFE6F7"/>
                </a:solidFill>
                <a:latin typeface="Arial"/>
              </a:rPr>
              <a:t>sobre onde está o erro?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7647" y="1828800"/>
            <a:ext cx="5349240" cy="23774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0255" y="2057400"/>
            <a:ext cx="476402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55B6"/>
                </a:solidFill>
                <a:latin typeface="Arial"/>
              </a:rPr>
              <a:t>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0255" y="2514600"/>
            <a:ext cx="4764024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070F26"/>
                </a:solidFill>
                <a:latin typeface="Arial"/>
              </a:rPr>
              <a:t>O problema ainda não existe.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070F26"/>
                </a:solidFill>
                <a:latin typeface="Arial"/>
              </a:rPr>
              <a:t>Você precisa construir certo.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070F26"/>
                </a:solidFill>
                <a:latin typeface="Arial"/>
              </a:rPr>
              <a:t>A régua é: o projeto tem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070F26"/>
                </a:solidFill>
                <a:latin typeface="Arial"/>
              </a:rPr>
              <a:t>contexto documentado?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43484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70F26"/>
                </a:solidFill>
                <a:latin typeface="Arial"/>
              </a:rPr>
              <a:t>Misturar as duas é o erro mais comum — e o mais caro.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2148840"/>
            <a:ext cx="10874959" cy="210312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61288" y="274320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61288" y="27432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 i="0">
                <a:solidFill>
                  <a:srgbClr val="0055B6"/>
                </a:solidFill>
                <a:latin typeface="Georg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87168" y="2743200"/>
            <a:ext cx="87901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Troubleshooting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7168" y="3456432"/>
            <a:ext cx="8790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D6E9F7"/>
                </a:solidFill>
                <a:latin typeface="Arial"/>
              </a:rPr>
              <a:t>Quando o problema já existe e alguém precisa achar a causa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A régua: quanto você já sabe?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A resposta muda a estratégia — e o custo — completamente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28800"/>
            <a:ext cx="3493008" cy="23774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202996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6B941"/>
                </a:solidFill>
                <a:latin typeface="Arial"/>
              </a:rPr>
              <a:t>BAIXA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450592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Você sabe o arquivo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e a linha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20040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>Recorte e peça o fix.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>IA é digitação rápida.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3127" y="1828800"/>
            <a:ext cx="3493008" cy="23774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90871" y="202996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72BC"/>
                </a:solidFill>
                <a:latin typeface="Arial"/>
              </a:rPr>
              <a:t>MÉDIA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90871" y="2450592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Você sabe o módulo,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não a causa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1" y="320040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>Dê o recorte + hipóteses.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>Deixe a IA cruzar.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47888" y="1828800"/>
            <a:ext cx="3493008" cy="23774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5632" y="2029968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45309"/>
                </a:solidFill>
                <a:latin typeface="Arial"/>
              </a:rPr>
              <a:t>ALTA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2450592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Você não faz ideia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de onde começa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85632" y="320040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>Aqui a IA compensa mais.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>Deixe varrer — com limite.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43484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A régua é pessoal: o que é alta complexidade para um é média para outro.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8463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A6675"/>
                </a:solidFill>
                <a:latin typeface="Arial"/>
              </a:rPr>
              <a:t>Por isso ninguém pode te dar o número pronto. O que dá para dar é o critério.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Complexidade baixa: o custo de não recortar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572768"/>
            <a:ext cx="5303520" cy="26060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" y="1755648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Log inteiro no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76272"/>
            <a:ext cx="48463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50">
                <a:solidFill>
                  <a:srgbClr val="070F26"/>
                </a:solidFill>
                <a:latin typeface="Courier New"/>
              </a:rPr>
              <a:t>Aqui o log, me ajuda: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070F26"/>
                </a:solidFill>
                <a:latin typeface="Courier New"/>
              </a:rPr>
              <a:t/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949494"/>
                </a:solidFill>
                <a:latin typeface="Courier New"/>
              </a:rPr>
              <a:t>09:14:02 </a:t>
            </a:r>
            <a:r>
              <a:rPr sz="1050">
                <a:solidFill>
                  <a:srgbClr val="0072BC"/>
                </a:solidFill>
                <a:latin typeface="Courier New"/>
              </a:rPr>
              <a:t>INFO </a:t>
            </a:r>
            <a:r>
              <a:rPr sz="1050">
                <a:solidFill>
                  <a:srgbClr val="070F26"/>
                </a:solidFill>
                <a:latin typeface="Courier New"/>
              </a:rPr>
              <a:t> Starting worker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949494"/>
                </a:solidFill>
                <a:latin typeface="Courier New"/>
              </a:rPr>
              <a:t>09:14:02 </a:t>
            </a:r>
            <a:r>
              <a:rPr sz="1050">
                <a:solidFill>
                  <a:srgbClr val="0072BC"/>
                </a:solidFill>
                <a:latin typeface="Courier New"/>
              </a:rPr>
              <a:t>INFO </a:t>
            </a:r>
            <a:r>
              <a:rPr sz="1050">
                <a:solidFill>
                  <a:srgbClr val="070F26"/>
                </a:solidFill>
                <a:latin typeface="Courier New"/>
              </a:rPr>
              <a:t> Connected redis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949494"/>
                </a:solidFill>
                <a:latin typeface="Courier New"/>
              </a:rPr>
              <a:t>  ... (1.847 linhas) ...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949494"/>
                </a:solidFill>
                <a:latin typeface="Courier New"/>
              </a:rPr>
              <a:t>09:31:55 </a:t>
            </a:r>
            <a:r>
              <a:rPr sz="1050">
                <a:solidFill>
                  <a:srgbClr val="B22000"/>
                </a:solidFill>
                <a:latin typeface="Courier New"/>
              </a:rPr>
              <a:t>ERROR </a:t>
            </a:r>
            <a:r>
              <a:rPr sz="1050">
                <a:solidFill>
                  <a:srgbClr val="070F26"/>
                </a:solidFill>
                <a:latin typeface="Courier New"/>
              </a:rPr>
              <a:t>ValueError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1572768"/>
            <a:ext cx="5303520" cy="26060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73951" y="1755648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1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Recorte + o que já verificou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176272"/>
            <a:ext cx="48463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50">
                <a:solidFill>
                  <a:srgbClr val="070F26"/>
                </a:solidFill>
                <a:latin typeface="Courier New"/>
              </a:rPr>
              <a:t>Erro no worker, ~2% dos registros.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070F26"/>
                </a:solidFill>
                <a:latin typeface="Courier New"/>
              </a:rPr>
              <a:t/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B22000"/>
                </a:solidFill>
                <a:latin typeface="Courier New"/>
              </a:rPr>
              <a:t>ValueError</a:t>
            </a:r>
            <a:r>
              <a:rPr sz="1050">
                <a:solidFill>
                  <a:srgbClr val="070F26"/>
                </a:solidFill>
                <a:latin typeface="Courier New"/>
              </a:rPr>
              <a:t>: invalid literal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6A3FA0"/>
                </a:solidFill>
                <a:latin typeface="Courier New"/>
              </a:rPr>
              <a:t>  parser.py:42</a:t>
            </a:r>
            <a:r>
              <a:rPr sz="1050">
                <a:solidFill>
                  <a:srgbClr val="070F26"/>
                </a:solidFill>
                <a:latin typeface="Courier New"/>
              </a:rPr>
              <a:t> in </a:t>
            </a:r>
            <a:r>
              <a:rPr sz="1050">
                <a:solidFill>
                  <a:srgbClr val="6A3FA0"/>
                </a:solidFill>
                <a:latin typeface="Courier New"/>
              </a:rPr>
              <a:t>parse_row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070F26"/>
                </a:solidFill>
                <a:latin typeface="Courier New"/>
              </a:rPr>
              <a:t/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070F26"/>
                </a:solidFill>
                <a:latin typeface="Courier New"/>
              </a:rPr>
              <a:t>Já verifiquei: CSV tem célula vazia.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070F26"/>
                </a:solidFill>
                <a:latin typeface="Courier New"/>
              </a:rPr>
              <a:t>Schema é do fornecedor, não muda.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315968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>
                <a:solidFill>
                  <a:srgbClr val="B22000"/>
                </a:solidFill>
                <a:latin typeface="Arial"/>
              </a:rPr>
              <a:t>~40.000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315968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 i="0">
                <a:solidFill>
                  <a:srgbClr val="0055B6"/>
                </a:solidFill>
                <a:latin typeface="Arial"/>
              </a:rPr>
              <a:t>~200 tokens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8006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5A6675"/>
                </a:solidFill>
                <a:latin typeface="Arial"/>
              </a:rPr>
              <a:t>As 1.847 linhas irrelevantes disputam atenção com as 6 que importam. Contexto cheio de ruído piora a resposta antes de encher a janela.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Complexidade alta: aqui a IA compensa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Quando você não sabe por onde começar, varrer é justamente o que ela faz melhor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2880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2029968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A6675"/>
                </a:solidFill>
                <a:latin typeface="Arial"/>
              </a:rPr>
              <a:t>Na mão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450592"/>
            <a:ext cx="4800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070F26"/>
                </a:solidFill>
                <a:latin typeface="Arial"/>
              </a:rPr>
              <a:t>3 a 6 horas caçando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070F26"/>
                </a:solidFill>
                <a:latin typeface="Arial"/>
              </a:rPr>
              <a:t>em repositório que ninguém domina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070F26"/>
                </a:solidFill>
                <a:latin typeface="Arial"/>
              </a:rPr>
              <a:t>Custo: hora de engenheiro sênior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7647" y="182880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01968" y="2029968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Com agente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1968" y="2450592"/>
            <a:ext cx="48006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CFE6F7"/>
                </a:solidFill>
                <a:latin typeface="Arial"/>
              </a:rPr>
              <a:t>Varre, cruza chamadas, propõe hipótese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CFE6F7"/>
                </a:solidFill>
                <a:latin typeface="Arial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CFE6F7"/>
                </a:solidFill>
                <a:latin typeface="Arial"/>
              </a:rPr>
              <a:t>≈ 12 ACU numa sessão de 3h</a:t>
            </a:r>
          </a:p>
          <a:p>
            <a:pPr algn="l">
              <a:lnSpc>
                <a:spcPct val="135000"/>
              </a:lnSpc>
            </a:pPr>
            <a:r>
              <a:rPr sz="1350" b="0" i="0">
                <a:solidFill>
                  <a:srgbClr val="CFE6F7"/>
                </a:solidFill>
                <a:latin typeface="Arial"/>
              </a:rPr>
              <a:t>≈ US$ 25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34340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70F26"/>
                </a:solidFill>
                <a:latin typeface="Arial"/>
              </a:rPr>
              <a:t>Quando a alternativa é meio dia de investigação, gastar token é a decisão barata.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75488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A6675"/>
                </a:solidFill>
                <a:latin typeface="Arial"/>
              </a:rPr>
              <a:t>Não existe cálculo exato — existe ordem de grandeza. E ela costuma favorecer a IA quanto menos você souber.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1 ACU ≈ 15 min de trabalho ativo do agente · referência de preço pública do fornecedor.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Caso real: pipeline com número divergente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627632"/>
            <a:ext cx="10874959" cy="841248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0976" y="1847088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070F26"/>
                </a:solidFill>
                <a:latin typeface="Arial"/>
              </a:rPr>
              <a:t>“O faturamento de junho no dashboard está R$ 200 acima do fechamento contábil.”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743200"/>
            <a:ext cx="384048" cy="384048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7432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52728" y="272491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Recortar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67328" y="2706624"/>
            <a:ext cx="7498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Só junho, só as colunas do agregado.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Não o pipeline inteiro.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3520440"/>
            <a:ext cx="384048" cy="384048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35204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50215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Dar o que já sabe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67328" y="3483864"/>
            <a:ext cx="7498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Houve reprocessamento de lote em 14/06.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A IA não tinha como adivinhar.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4297680"/>
            <a:ext cx="384048" cy="384048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2976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4279392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Pedir hipóteses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7328" y="4261104"/>
            <a:ext cx="7498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Antes do fix: liste as causas possíveis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e como distinguir uma da outra.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663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070F26"/>
                </a:solidFill>
                <a:latin typeface="Arial"/>
              </a:rPr>
              <a:t>A causa era duplicata de reprocessamento. O agente achou em minutos — porque recebeu o recorte e a pista.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2148840"/>
            <a:ext cx="10874959" cy="210312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61288" y="274320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61288" y="27432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 i="0">
                <a:solidFill>
                  <a:srgbClr val="0055B6"/>
                </a:solidFill>
                <a:latin typeface="Georgi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87168" y="2743200"/>
            <a:ext cx="87901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7168" y="3456432"/>
            <a:ext cx="8790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D6E9F7"/>
                </a:solidFill>
                <a:latin typeface="Arial"/>
              </a:rPr>
              <a:t>Quando o problema ainda não existe e você precisa construir certo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Greenfield e brownfield pedem coisas diferentes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Greenfield: projeto do zero · Brownfield: sistema que já existe e você altera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6596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2176272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6B941"/>
                </a:solidFill>
                <a:latin typeface="Arial"/>
              </a:rPr>
              <a:t>GREENFIELD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606040"/>
            <a:ext cx="4800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>Sem legado, sem armadilha herdada.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>A IA rende muito desde o primeiro dia —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>e é aqui que o SDD brilha.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>Risco: velocidade sem decisão de arquitetura.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27647" y="196596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01968" y="2176272"/>
            <a:ext cx="4800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22000"/>
                </a:solidFill>
                <a:latin typeface="Arial"/>
              </a:rPr>
              <a:t>BROWNFIELD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1968" y="2606040"/>
            <a:ext cx="4800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>Anos de decisão não documentada.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>Pedir feature direto aqui é o erro clássico: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>o agente lê o código e inventa o resto.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070F26"/>
                </a:solidFill>
                <a:latin typeface="Arial"/>
              </a:rPr>
              <a:t>Precisa de um passo antes.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52628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70F26"/>
                </a:solidFill>
                <a:latin typeface="Arial"/>
              </a:rPr>
              <a:t>A maior parte do trabalho real é brownfield. E é onde quase ninguém faz o passo anterior.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Brownfield: documentar antes de pedir feature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Uma vez por projeto. Depois disso toda tarefa fica mais barata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65960"/>
            <a:ext cx="10874959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2130552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Contexto do projeto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07407" y="2093976"/>
            <a:ext cx="68580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AGENTS.md na raiz: como rodar, como testar,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armadilhas, convenções não óbvias, glossário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953512"/>
            <a:ext cx="10874959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3118104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Conhecimento de negócio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07407" y="3081528"/>
            <a:ext cx="68580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O que o código não conta: regra que veio do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jurídico, decisão antiga e o porquê dela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941064"/>
            <a:ext cx="10874959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4105656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Ambiente reproduzível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7" y="4069080"/>
            <a:ext cx="68580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Setup do repositório e snapshot de máquina,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para o agente não gastar sessão descobrindo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029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070F26"/>
                </a:solidFill>
                <a:latin typeface="Arial"/>
              </a:rPr>
              <a:t>O agente pode escrever boa parte disso — lendo o repositório e te perguntando o que não dá para inferir.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SDD — Spec-Driven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A especificação é a fonte de verdade. O código é saída dela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0" i="0">
                <a:solidFill>
                  <a:srgbClr val="070F26"/>
                </a:solidFill>
                <a:latin typeface="Georgia"/>
              </a:rPr>
              <a:t>Quando a IA escreve o código, escrever código deixa de ser o gargalo.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 i="0">
                <a:solidFill>
                  <a:srgbClr val="0072BC"/>
                </a:solidFill>
                <a:latin typeface="Georgia"/>
              </a:rPr>
              <a:t>Decidir o que deve ser construído vira o gargalo.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3017520"/>
            <a:ext cx="10874959" cy="13716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324612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070F26"/>
                </a:solidFill>
                <a:latin typeface="Arial"/>
              </a:rPr>
              <a:t>Sem spec, quem decide é o modelo — por omissão, com confiança, e você descobre no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65760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A6675"/>
                </a:solidFill>
                <a:latin typeface="Arial"/>
              </a:rPr>
              <a:t>Não é documentação a mais. É a conversa que já precisaria acontecer, escrita uma vez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A6675"/>
                </a:solidFill>
                <a:latin typeface="Arial"/>
              </a:rPr>
              <a:t>e reaproveitada por todo mundo — inclusive pelo próximo agente.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ciclo do SDD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mesmo, de tarefa pequena a feature grande — só muda o rigor de cada etapa</a:t>
            </a:r>
          </a:p>
        </p:txBody>
      </p:sp>
      <p:sp>
        <p:nvSpPr>
          <p:cNvPr id="4" name="Block Arc 3"/>
          <p:cNvSpPr/>
          <p:nvPr/>
        </p:nvSpPr>
        <p:spPr>
          <a:xfrm>
            <a:off x="1911095" y="1636775"/>
            <a:ext cx="3584448" cy="3584448"/>
          </a:xfrm>
          <a:prstGeom prst="blockArc">
            <a:avLst>
              <a:gd name="adj1" fmla="val -7559999"/>
              <a:gd name="adj2" fmla="val -3419999"/>
              <a:gd name="adj3" fmla="val 19000"/>
            </a:avLst>
          </a:prstGeom>
          <a:solidFill>
            <a:srgbClr val="005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lock Arc 4"/>
          <p:cNvSpPr/>
          <p:nvPr/>
        </p:nvSpPr>
        <p:spPr>
          <a:xfrm>
            <a:off x="1911095" y="1636775"/>
            <a:ext cx="3584448" cy="3584448"/>
          </a:xfrm>
          <a:prstGeom prst="blockArc">
            <a:avLst>
              <a:gd name="adj1" fmla="val -3240000"/>
              <a:gd name="adj2" fmla="val 900000"/>
              <a:gd name="adj3" fmla="val 19000"/>
            </a:avLst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lock Arc 5"/>
          <p:cNvSpPr/>
          <p:nvPr/>
        </p:nvSpPr>
        <p:spPr>
          <a:xfrm>
            <a:off x="1911095" y="1636775"/>
            <a:ext cx="3584448" cy="3584448"/>
          </a:xfrm>
          <a:prstGeom prst="blockArc">
            <a:avLst>
              <a:gd name="adj1" fmla="val 1080000"/>
              <a:gd name="adj2" fmla="val 5220000"/>
              <a:gd name="adj3" fmla="val 19000"/>
            </a:avLst>
          </a:prstGeom>
          <a:solidFill>
            <a:srgbClr val="19A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lock Arc 6"/>
          <p:cNvSpPr/>
          <p:nvPr/>
        </p:nvSpPr>
        <p:spPr>
          <a:xfrm>
            <a:off x="1911095" y="1636775"/>
            <a:ext cx="3584448" cy="3584448"/>
          </a:xfrm>
          <a:prstGeom prst="blockArc">
            <a:avLst>
              <a:gd name="adj1" fmla="val 5400000"/>
              <a:gd name="adj2" fmla="val 9540000"/>
              <a:gd name="adj3" fmla="val 19000"/>
            </a:avLst>
          </a:prstGeom>
          <a:solidFill>
            <a:srgbClr val="00C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Block Arc 7"/>
          <p:cNvSpPr/>
          <p:nvPr/>
        </p:nvSpPr>
        <p:spPr>
          <a:xfrm>
            <a:off x="1911095" y="1636775"/>
            <a:ext cx="3584448" cy="3584448"/>
          </a:xfrm>
          <a:prstGeom prst="blockArc">
            <a:avLst>
              <a:gd name="adj1" fmla="val 9720000"/>
              <a:gd name="adj2" fmla="val 13860000"/>
              <a:gd name="adj3" fmla="val 19000"/>
            </a:avLst>
          </a:prstGeom>
          <a:solidFill>
            <a:srgbClr val="7B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090672" y="1335024"/>
            <a:ext cx="1225296" cy="12252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5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27248" y="1609344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2E404D"/>
                </a:solidFill>
                <a:latin typeface="Arial"/>
              </a:rPr>
              <a:t>ENTENDER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7248" y="1901952"/>
            <a:ext cx="115214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949494"/>
                </a:solidFill>
                <a:latin typeface="Arial"/>
              </a:rPr>
              <a:t>1</a:t>
            </a:r>
          </a:p>
        </p:txBody>
      </p:sp>
      <p:sp>
        <p:nvSpPr>
          <p:cNvPr id="12" name="Oval 11"/>
          <p:cNvSpPr/>
          <p:nvPr/>
        </p:nvSpPr>
        <p:spPr>
          <a:xfrm>
            <a:off x="4499498" y="2358596"/>
            <a:ext cx="1225296" cy="1225296"/>
          </a:xfrm>
          <a:prstGeom prst="ellipse">
            <a:avLst/>
          </a:prstGeom>
          <a:solidFill>
            <a:srgbClr val="0072BC"/>
          </a:solidFill>
          <a:ln w="31750">
            <a:solidFill>
              <a:srgbClr val="0072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6074" y="2632916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ESPECIFICAR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74" y="2925524"/>
            <a:ext cx="115214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CFE6F7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3961374" y="4014771"/>
            <a:ext cx="1225296" cy="12252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9A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97950" y="4289091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2E404D"/>
                </a:solidFill>
                <a:latin typeface="Arial"/>
              </a:rPr>
              <a:t>EXECUTAR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97950" y="4581699"/>
            <a:ext cx="115214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949494"/>
                </a:solidFill>
                <a:latin typeface="Arial"/>
              </a:rPr>
              <a:t>3</a:t>
            </a:r>
          </a:p>
        </p:txBody>
      </p:sp>
      <p:sp>
        <p:nvSpPr>
          <p:cNvPr id="18" name="Oval 17"/>
          <p:cNvSpPr/>
          <p:nvPr/>
        </p:nvSpPr>
        <p:spPr>
          <a:xfrm>
            <a:off x="2219969" y="4014771"/>
            <a:ext cx="1225296" cy="12252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C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56545" y="4289091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2E404D"/>
                </a:solidFill>
                <a:latin typeface="Arial"/>
              </a:rPr>
              <a:t>VERIFICAR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56545" y="4581699"/>
            <a:ext cx="115214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949494"/>
                </a:solidFill>
                <a:latin typeface="Arial"/>
              </a:rPr>
              <a:t>4</a:t>
            </a:r>
          </a:p>
        </p:txBody>
      </p:sp>
      <p:sp>
        <p:nvSpPr>
          <p:cNvPr id="21" name="Oval 20"/>
          <p:cNvSpPr/>
          <p:nvPr/>
        </p:nvSpPr>
        <p:spPr>
          <a:xfrm>
            <a:off x="1681845" y="2358596"/>
            <a:ext cx="1225296" cy="12252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7BF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8421" y="2632916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2E404D"/>
                </a:solidFill>
                <a:latin typeface="Arial"/>
              </a:rPr>
              <a:t>REGISTRAR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18421" y="2925524"/>
            <a:ext cx="115214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949494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3044952"/>
            <a:ext cx="13716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A6675"/>
                </a:solidFill>
                <a:latin typeface="Georgia"/>
              </a:rPr>
              <a:t>repete</a:t>
            </a:r>
          </a:p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A6675"/>
                </a:solidFill>
                <a:latin typeface="Georgia"/>
              </a:rPr>
              <a:t>a cada</a:t>
            </a:r>
          </a:p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A6675"/>
                </a:solidFill>
                <a:latin typeface="Georgia"/>
              </a:rPr>
              <a:t>tarefa</a:t>
            </a:r>
          </a:p>
        </p:txBody>
      </p:sp>
      <p:sp>
        <p:nvSpPr>
          <p:cNvPr id="25" name="Oval 24"/>
          <p:cNvSpPr/>
          <p:nvPr/>
        </p:nvSpPr>
        <p:spPr>
          <a:xfrm>
            <a:off x="6720840" y="2304288"/>
            <a:ext cx="274320" cy="274320"/>
          </a:xfrm>
          <a:prstGeom prst="ellipse">
            <a:avLst/>
          </a:prstGeom>
          <a:solidFill>
            <a:srgbClr val="005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50608" y="22860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70F26"/>
                </a:solidFill>
                <a:latin typeface="Arial"/>
              </a:rPr>
              <a:t>ENTENDER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29514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A6675"/>
                </a:solidFill>
                <a:latin typeface="Arial"/>
              </a:rPr>
              <a:t>ler antes de pedir</a:t>
            </a:r>
          </a:p>
        </p:txBody>
      </p:sp>
      <p:sp>
        <p:nvSpPr>
          <p:cNvPr id="29" name="Oval 28"/>
          <p:cNvSpPr/>
          <p:nvPr/>
        </p:nvSpPr>
        <p:spPr>
          <a:xfrm>
            <a:off x="6720840" y="2834640"/>
            <a:ext cx="274320" cy="274320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28346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50608" y="28163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055B6"/>
                </a:solidFill>
                <a:latin typeface="Arial"/>
              </a:rPr>
              <a:t>ESPECIFICAR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282549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A6675"/>
                </a:solidFill>
                <a:latin typeface="Arial"/>
              </a:rPr>
              <a:t>escrever o critério</a:t>
            </a:r>
          </a:p>
        </p:txBody>
      </p:sp>
      <p:sp>
        <p:nvSpPr>
          <p:cNvPr id="33" name="Oval 32"/>
          <p:cNvSpPr/>
          <p:nvPr/>
        </p:nvSpPr>
        <p:spPr>
          <a:xfrm>
            <a:off x="6720840" y="3364992"/>
            <a:ext cx="274320" cy="274320"/>
          </a:xfrm>
          <a:prstGeom prst="ellipse">
            <a:avLst/>
          </a:prstGeom>
          <a:solidFill>
            <a:srgbClr val="19A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20840" y="33649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50608" y="33467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70F26"/>
                </a:solidFill>
                <a:latin typeface="Arial"/>
              </a:rPr>
              <a:t>EXECUTAR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335584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A6675"/>
                </a:solidFill>
                <a:latin typeface="Arial"/>
              </a:rPr>
              <a:t>pessoa ou agente</a:t>
            </a:r>
          </a:p>
        </p:txBody>
      </p:sp>
      <p:sp>
        <p:nvSpPr>
          <p:cNvPr id="37" name="Oval 36"/>
          <p:cNvSpPr/>
          <p:nvPr/>
        </p:nvSpPr>
        <p:spPr>
          <a:xfrm>
            <a:off x="6720840" y="3895344"/>
            <a:ext cx="274320" cy="274320"/>
          </a:xfrm>
          <a:prstGeom prst="ellipse">
            <a:avLst/>
          </a:prstGeom>
          <a:solidFill>
            <a:srgbClr val="00C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20840" y="38953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2E404D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50608" y="38770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70F26"/>
                </a:solidFill>
                <a:latin typeface="Arial"/>
              </a:rPr>
              <a:t>VERIFICAR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38862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A6675"/>
                </a:solidFill>
                <a:latin typeface="Arial"/>
              </a:rPr>
              <a:t>rodar, não ler</a:t>
            </a:r>
          </a:p>
        </p:txBody>
      </p:sp>
      <p:sp>
        <p:nvSpPr>
          <p:cNvPr id="41" name="Oval 40"/>
          <p:cNvSpPr/>
          <p:nvPr/>
        </p:nvSpPr>
        <p:spPr>
          <a:xfrm>
            <a:off x="6720840" y="4425696"/>
            <a:ext cx="274320" cy="274320"/>
          </a:xfrm>
          <a:prstGeom prst="ellipse">
            <a:avLst/>
          </a:prstGeom>
          <a:solidFill>
            <a:srgbClr val="7B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20840" y="44256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2E404D"/>
                </a:solidFill>
                <a:latin typeface="Arial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50608" y="44074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70F26"/>
                </a:solidFill>
                <a:latin typeface="Arial"/>
              </a:rPr>
              <a:t>REGISTRAR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44165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A6675"/>
                </a:solidFill>
                <a:latin typeface="Arial"/>
              </a:rPr>
              <a:t>o que vale pra próxima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5230368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070F26"/>
                </a:solidFill>
                <a:latin typeface="Arial"/>
              </a:rPr>
              <a:t>A etapa 2 é a que mais se pula — e a única que, quando falha, estraga todas as outras.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Frameworks que implementam o ciclo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Impõem o método dentro da ferramenta, em vez de depender de disciplina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65960"/>
            <a:ext cx="3493008" cy="2011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76272"/>
            <a:ext cx="29809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55B6"/>
                </a:solidFill>
                <a:latin typeface="Arial"/>
              </a:rPr>
              <a:t>Superpowers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06040"/>
            <a:ext cx="29809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Skills que conduzem brainstorming,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plano, TDD e review.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Escreve a spec sozinho.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53127" y="1965960"/>
            <a:ext cx="3493008" cy="2011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59" y="2176272"/>
            <a:ext cx="29809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55B6"/>
                </a:solidFill>
                <a:latin typeface="Arial"/>
              </a:rPr>
              <a:t>Spec Kit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59" y="2606040"/>
            <a:ext cx="29809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Fluxo em fases explícitas: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especificar, planejar, tarefas.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CLI própria.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7888" y="1965960"/>
            <a:ext cx="3493008" cy="2011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19" y="2176272"/>
            <a:ext cx="29809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055B6"/>
                </a:solidFill>
                <a:latin typeface="Arial"/>
              </a:rPr>
              <a:t>GSD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2606040"/>
            <a:ext cx="29809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Mais enxuto e opinativo.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Foco em fechar escopo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antes de gerar código.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25196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Escolha um e use por um mês antes de comparar. O ganho vem da consistência, não do nome.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7091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A6675"/>
                </a:solidFill>
                <a:latin typeface="Arial"/>
              </a:rPr>
              <a:t>Todos cobrem brainstorming, spec e plano. Nenhum cobre delegação a agente externo nem memória entre sessões.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Anatomia de uma especificação que funciona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783080"/>
            <a:ext cx="10874959" cy="658368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1956816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70F26"/>
                </a:solidFill>
                <a:latin typeface="Arial"/>
              </a:rPr>
              <a:t>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15968" y="1956816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A6675"/>
                </a:solidFill>
                <a:latin typeface="Arial"/>
              </a:rPr>
              <a:t>com evidência: número, frequência, impacto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532888"/>
            <a:ext cx="10874959" cy="658368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2706624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70F26"/>
                </a:solidFill>
                <a:latin typeface="Arial"/>
              </a:rPr>
              <a:t>Comportamento esperado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5968" y="2706624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A6675"/>
                </a:solidFill>
                <a:latin typeface="Arial"/>
              </a:rPr>
              <a:t>o que passa a ser verdade quando estiver pronto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282696"/>
            <a:ext cx="10874959" cy="658368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3456432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70F26"/>
                </a:solidFill>
                <a:latin typeface="Arial"/>
              </a:rPr>
              <a:t>Regras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456432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A6675"/>
                </a:solidFill>
                <a:latin typeface="Arial"/>
              </a:rPr>
              <a:t>as decisões que o modelo não tem como adivinhar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032504"/>
            <a:ext cx="10874959" cy="658368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42062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B22000"/>
                </a:solidFill>
                <a:latin typeface="Arial"/>
              </a:rPr>
              <a:t>Fora de escopo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4206240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A6675"/>
                </a:solidFill>
                <a:latin typeface="Arial"/>
              </a:rPr>
              <a:t>o que não pode ser tocado — a seção que mais economiza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782312"/>
            <a:ext cx="10874959" cy="658368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956048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70F26"/>
                </a:solidFill>
                <a:latin typeface="Arial"/>
              </a:rPr>
              <a:t>Aceite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4956048"/>
            <a:ext cx="6949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A6675"/>
                </a:solidFill>
                <a:latin typeface="Arial"/>
              </a:rPr>
              <a:t>verificável por comando, não por opinião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25780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“Fora de escopo” é a primeira a ficar vazia e a que mais evita retrabalho.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mesmo pedido, com e sem especificação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Deduplicação em pipeline: onde a chave técnica e a chave de negócio divergem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737360"/>
            <a:ext cx="5303520" cy="25146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6112" y="1920240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2024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92938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Sem spec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340864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00">
                <a:solidFill>
                  <a:srgbClr val="070F26"/>
                </a:solidFill>
                <a:latin typeface="Arial"/>
              </a:rPr>
              <a:t>“deduplica a tabela de pedidos”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070F26"/>
                </a:solidFill>
                <a:latin typeface="Arial"/>
              </a:rPr>
              <a:t/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6A3FA0"/>
                </a:solidFill>
                <a:latin typeface="Arial"/>
              </a:rPr>
              <a:t>PARTITION BY pedido_id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070F26"/>
                </a:solidFill>
                <a:latin typeface="Arial"/>
              </a:rPr>
              <a:t/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5A6675"/>
                </a:solidFill>
                <a:latin typeface="Arial"/>
              </a:rPr>
              <a:t>Corrige o número do dashboard.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B22000"/>
                </a:solidFill>
                <a:latin typeface="Arial"/>
              </a:rPr>
              <a:t>Apaga 5 anos de trilha de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B22000"/>
                </a:solidFill>
                <a:latin typeface="Arial"/>
              </a:rPr>
              <a:t>auditoria — e passa no CI.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737360"/>
            <a:ext cx="5303520" cy="25146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73951" y="1920240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192024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7999" y="192938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Com spec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2" y="2340864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00">
                <a:solidFill>
                  <a:srgbClr val="070F26"/>
                </a:solidFill>
                <a:latin typeface="Arial"/>
              </a:rPr>
              <a:t>Regra: duplicata é a repetição de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070F26"/>
                </a:solidFill>
                <a:latin typeface="Arial"/>
              </a:rPr>
              <a:t>(pedido_id, status, atualizado_em).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070F26"/>
                </a:solidFill>
                <a:latin typeface="Arial"/>
              </a:rPr>
              <a:t>Fora de escopo: DELETE em bronze.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070F26"/>
                </a:solidFill>
                <a:latin typeface="Arial"/>
              </a:rPr>
              <a:t/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6A3FA0"/>
                </a:solidFill>
                <a:latin typeface="Arial"/>
              </a:rPr>
              <a:t>PARTITION BY pedido_id,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6A3FA0"/>
                </a:solidFill>
                <a:latin typeface="Arial"/>
              </a:rPr>
              <a:t>  status, atualizado_em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4348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A diferença cabe numa linha de código — e vem de uma regra que não está em lugar nenhum do repositório.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89204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A6675"/>
                </a:solidFill>
                <a:latin typeface="Arial"/>
              </a:rPr>
              <a:t>Append-only por requisito de auditoria, decidido com compliance. Nenhum parser de AST descobre isso.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Quando a IA não é a única mexendo no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SDD assume que o agente é o único autor. Na vida real, não 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10874959" cy="9601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205740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B22000"/>
                </a:solidFill>
                <a:latin typeface="Arial"/>
              </a:rPr>
              <a:t>O problema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237744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Você altera na mão, o agente não sabe. Na próxima sessão ele relê o repositório inteiro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para descobrir o que mudou — ou pior, assume o estado antigo.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017520"/>
            <a:ext cx="10874959" cy="1600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3218688"/>
            <a:ext cx="5486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0055B6"/>
                </a:solidFill>
                <a:latin typeface="Arial"/>
              </a:rPr>
              <a:t>A solução: changelog para agente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56616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Um arquivo curto, append-only, com o que mudou fora das sessões de IA: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o que você alterou, por quê, e o que isso invalida do que já foi decidido.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É mais barato manter três linhas por mudança do que pagar releitura de repositório toda sessão.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0060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070F26"/>
                </a:solidFill>
                <a:latin typeface="Arial"/>
              </a:rPr>
              <a:t>Vale o mesmo princípio da memória: registre o que ficou verdadeiro, não o que aconteceu.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2148840"/>
            <a:ext cx="10874959" cy="210312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61288" y="274320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61288" y="27432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 i="0">
                <a:solidFill>
                  <a:srgbClr val="0055B6"/>
                </a:solidFill>
                <a:latin typeface="Georgi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87168" y="2743200"/>
            <a:ext cx="87901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Decidir e verificar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7168" y="3456432"/>
            <a:ext cx="8790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D6E9F7"/>
                </a:solidFill>
                <a:latin typeface="Arial"/>
              </a:rPr>
              <a:t>O que delegar, quanto custa e como revisar o que voltou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Na mão · piloto · delega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Decisão que vem antes de abrir a ferramenta, não depois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3493008" cy="22402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2048256"/>
            <a:ext cx="30540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22000"/>
                </a:solidFill>
                <a:latin typeface="Arial"/>
              </a:rPr>
              <a:t>NA MÃO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3054096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Decisão de arquitetura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Regra de negócio nova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Código de auth e pagamento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Incidente em produção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53127" y="1874519"/>
            <a:ext cx="3493008" cy="22402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2583" y="2048256"/>
            <a:ext cx="30540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PILOTO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2583" y="2468880"/>
            <a:ext cx="3054096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Causa desconhecida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Design ainda aberto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Refactor que atravessa módulos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Código sensível, passo a passo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7888" y="1874519"/>
            <a:ext cx="3493008" cy="22402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67344" y="2048256"/>
            <a:ext cx="305409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6B941"/>
                </a:solidFill>
                <a:latin typeface="Arial"/>
              </a:rPr>
              <a:t>DELEGA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67344" y="2468880"/>
            <a:ext cx="3054096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Migração mecânica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Bug com repro determinístico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Teste faltando</a:t>
            </a:r>
          </a:p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Padronização em N arquivos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297680"/>
            <a:ext cx="10874959" cy="7772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4498848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Regra prática dos fornecedores de agente: se você faria em até 3 horas, é delegável. Acima disso, decomponha.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16636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A6675"/>
                </a:solidFill>
                <a:latin typeface="Arial"/>
              </a:rPr>
              <a:t>E a pergunta que resolve quase tudo: existe teste que prova que ficou certo? Se não existe, não delegue.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Um PR que passa no CI e não deve ser aprovado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572768"/>
            <a:ext cx="5943600" cy="2651760"/>
          </a:xfrm>
          <a:prstGeom prst="roundRect">
            <a:avLst>
              <a:gd name="adj" fmla="val 4000"/>
            </a:avLst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539496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0">
                <a:solidFill>
                  <a:srgbClr val="C7D0DC"/>
                </a:solidFill>
                <a:latin typeface="Courier New"/>
              </a:rPr>
              <a:t>  def parse_row(row) -&gt; int | None: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FF6B4A"/>
                </a:solidFill>
                <a:latin typeface="Courier New"/>
              </a:rPr>
              <a:t>-     return int(row["quantidade"])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38F990"/>
                </a:solidFill>
                <a:latin typeface="Courier New"/>
              </a:rPr>
              <a:t>+     try: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38F990"/>
                </a:solidFill>
                <a:latin typeface="Courier New"/>
              </a:rPr>
              <a:t>+         return int(row["quantidade"])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38F990"/>
                </a:solidFill>
                <a:latin typeface="Courier New"/>
              </a:rPr>
              <a:t>+     except Exception: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38F990"/>
                </a:solidFill>
                <a:latin typeface="Courier New"/>
              </a:rPr>
              <a:t>+         return None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070F26"/>
                </a:solidFill>
                <a:latin typeface="Courier New"/>
              </a:rPr>
              <a:t/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FF6B4A"/>
                </a:solidFill>
                <a:latin typeface="Courier New"/>
              </a:rPr>
              <a:t>- def test_invalido():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FF6B4A"/>
                </a:solidFill>
                <a:latin typeface="Courier New"/>
              </a:rPr>
              <a:t>-     with pytest.raises(ValueError):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38F990"/>
                </a:solidFill>
                <a:latin typeface="Courier New"/>
              </a:rPr>
              <a:t>+ def test_invalido():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38F990"/>
                </a:solidFill>
                <a:latin typeface="Courier New"/>
              </a:rPr>
              <a:t>+     assert parse_row("abc") is None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59168" y="160934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CI verde. Três problemas: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59168" y="2103120"/>
            <a:ext cx="44805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949494"/>
                </a:solidFill>
                <a:latin typeface="Arial"/>
              </a:rPr>
              <a:t>•  </a:t>
            </a:r>
            <a:r>
              <a:rPr sz="1200">
                <a:solidFill>
                  <a:srgbClr val="B22000"/>
                </a:solidFill>
                <a:latin typeface="Arial"/>
              </a:rPr>
              <a:t>except Exception</a:t>
            </a:r>
            <a:r>
              <a:rPr sz="1200">
                <a:solidFill>
                  <a:srgbClr val="5A6675"/>
                </a:solidFill>
                <a:latin typeface="Arial"/>
              </a:rPr>
              <a:t> engole tudo — coluna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5A6675"/>
                </a:solidFill>
                <a:latin typeface="Arial"/>
              </a:rPr>
              <a:t>   faltando vira None silencioso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070F26"/>
                </a:solidFill>
                <a:latin typeface="Arial"/>
              </a:rPr>
              <a:t/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949494"/>
                </a:solidFill>
                <a:latin typeface="Arial"/>
              </a:rPr>
              <a:t>•  </a:t>
            </a:r>
            <a:r>
              <a:rPr sz="1200">
                <a:solidFill>
                  <a:srgbClr val="B22000"/>
                </a:solidFill>
                <a:latin typeface="Arial"/>
              </a:rPr>
              <a:t>o teste antigo foi invertido</a:t>
            </a:r>
            <a:r>
              <a:rPr sz="1200">
                <a:solidFill>
                  <a:srgbClr val="5A6675"/>
                </a:solidFill>
                <a:latin typeface="Arial"/>
              </a:rPr>
              <a:t> para passar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070F26"/>
                </a:solidFill>
                <a:latin typeface="Arial"/>
              </a:rPr>
              <a:t/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949494"/>
                </a:solidFill>
                <a:latin typeface="Arial"/>
              </a:rPr>
              <a:t>•  </a:t>
            </a:r>
            <a:r>
              <a:rPr sz="1200">
                <a:solidFill>
                  <a:srgbClr val="5A6675"/>
                </a:solidFill>
                <a:latin typeface="Arial"/>
              </a:rPr>
              <a:t>parâmetro de biblioteca que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5A6675"/>
                </a:solidFill>
                <a:latin typeface="Arial"/>
              </a:rPr>
              <a:t>   simplesmente não existe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38912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Ler o diff não é revisar. O segundo item é o mais grave e o mais fácil de passar batido.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80974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A6675"/>
                </a:solidFill>
                <a:latin typeface="Arial"/>
              </a:rPr>
              <a:t>Atalho: git diff nos testes primeiro. Linha alterada em teste existente exige justificativa escrita.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Bônus: escolher o modelo pela tarefa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Rodar tudo no topo de linha é o desperdício mais comum e mais fácil de corrigir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65960"/>
            <a:ext cx="3493008" cy="17830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76272"/>
            <a:ext cx="29809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6B941"/>
                </a:solidFill>
                <a:latin typeface="Arial"/>
              </a:rPr>
              <a:t>Pequeno / rápido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06040"/>
            <a:ext cx="298094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classificar · extrair · formatar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resumir · traduzir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53127" y="1965960"/>
            <a:ext cx="3493008" cy="17830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59" y="2176272"/>
            <a:ext cx="29809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Intermediário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59" y="2606040"/>
            <a:ext cx="298094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código do dia a dia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revisão · refactor local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7888" y="1965960"/>
            <a:ext cx="3493008" cy="17830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19" y="2176272"/>
            <a:ext cx="2980944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45309"/>
                </a:solidFill>
                <a:latin typeface="Arial"/>
              </a:rPr>
              <a:t>Topo de linha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2606040"/>
            <a:ext cx="298094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arquitetura · debug difícil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raciocínio longo · tarefa agêntica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02336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A diferença de preço entre o menor e o maior costuma ser de uma ordem de grandeza.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46227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A6675"/>
                </a:solidFill>
                <a:latin typeface="Arial"/>
              </a:rPr>
              <a:t>E o maior nem sempre entrega melhor: em tarefa simples você paga mais, espera mais e recebe o mesmo.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937760"/>
            <a:ext cx="10874959" cy="658368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510235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055B6"/>
                </a:solidFill>
                <a:latin typeface="Arial"/>
              </a:rPr>
              <a:t>Contexto acima de ~50% da janela aumenta a chance de erro. Sessão nova é mais barata que sessão longa.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Por onde começar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Nessa ordem — a primeira sozinha já muda o resultado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10874959" cy="8229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32688" y="2093976"/>
            <a:ext cx="402336" cy="402336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09397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768" y="2039112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070F26"/>
                </a:solidFill>
                <a:latin typeface="Arial"/>
              </a:rPr>
              <a:t>Recorte antes de pedir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61888" y="205740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A6675"/>
                </a:solidFill>
                <a:latin typeface="Arial"/>
              </a:rPr>
              <a:t>No troubleshooting: mande o trecho e o que já verificou.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788920"/>
            <a:ext cx="10874959" cy="8229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3008376"/>
            <a:ext cx="402336" cy="402336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00837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72768" y="2953512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070F26"/>
                </a:solidFill>
                <a:latin typeface="Arial"/>
              </a:rPr>
              <a:t>Documente o projeto uma vez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297180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A6675"/>
                </a:solidFill>
                <a:latin typeface="Arial"/>
              </a:rPr>
              <a:t>Em brownfield, AGENTS.md antes de qualquer feature.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03320"/>
            <a:ext cx="10874959" cy="8229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3922776"/>
            <a:ext cx="402336" cy="402336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92277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72768" y="3867911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070F26"/>
                </a:solidFill>
                <a:latin typeface="Arial"/>
              </a:rPr>
              <a:t>Escreva o critério de aceite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1888" y="388620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A6675"/>
                </a:solidFill>
                <a:latin typeface="Arial"/>
              </a:rPr>
              <a:t>Uma linha verificável por comando, junto com o pedido.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617720"/>
            <a:ext cx="10874959" cy="8229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2688" y="4837176"/>
            <a:ext cx="402336" cy="402336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483717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782312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070F26"/>
                </a:solidFill>
                <a:latin typeface="Arial"/>
              </a:rPr>
              <a:t>Rode antes de aprovar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61888" y="480060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5A6675"/>
                </a:solidFill>
                <a:latin typeface="Arial"/>
              </a:rPr>
              <a:t>Ler o diff não é revisar. Vale para PR de IA e de gente.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53212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Nenhuma das quatro depende de instalar nada.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Agora é de vocês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3716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055B6"/>
                </a:solidFill>
                <a:latin typeface="Arial"/>
              </a:rPr>
              <a:t>30 minutos. Discordar é o melhor uso desse tempo.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48840"/>
            <a:ext cx="10874959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42316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Onde isso não funciona no contexto de vocês?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3172968"/>
            <a:ext cx="10874959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3319272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Qual a régua de complexidade de cada um aqui?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685032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A6675"/>
                </a:solidFill>
                <a:latin typeface="Arial"/>
              </a:rPr>
              <a:t>onde vocês já sentem que vale gastar token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197096"/>
            <a:ext cx="10874959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434340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Qual tarefa da sprint serviria de teste?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4709160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A6675"/>
                </a:solidFill>
                <a:latin typeface="Arial"/>
              </a:rPr>
              <a:t>a mais concreta — começa por essa se travar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4406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1">
                <a:solidFill>
                  <a:srgbClr val="5A6675"/>
                </a:solidFill>
                <a:latin typeface="Arial"/>
              </a:rPr>
              <a:t>Material, templates e o exercício prático: github.com/devdiasbr/boas-praticas-ia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ver Photo" descr="A group of tall buildings">
            <a:extLst>
              <a:ext uri="{FF2B5EF4-FFF2-40B4-BE49-F238E27FC236}">
                <a16:creationId xmlns:a16="http://schemas.microsoft.com/office/drawing/2014/main" id="{D1784304-20CA-2595-A2CF-CFD02E4EF6F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" b="81"/>
          <a:stretch/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991235-C283-783D-AF49-E845205D045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4E82A2-356B-1BC2-C482-7770727F7BE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7C6A72F5-2EAA-30FE-0CD3-202C143C918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31759756-E6FE-4FFA-8F5E-B04C401C522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CA" dirty="0"/>
              <a:t>© 2026 NTT DATA, Inc.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71DBF8-81A7-9FE7-57D3-9CD874C25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CD07AD3-DD8E-6F8A-4838-E3B5AAB6E91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ABDF3ACB-BC28-B46B-FF4A-2BDF0F8083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sz="1300" b="0">
                <a:solidFill>
                  <a:srgbClr val="FFFFFF"/>
                </a:solidFill>
                <a:latin typeface="Arial"/>
              </a:rPr>
              <a:t>Troubleshooting e desenvolvimento de features</a:t>
            </a:r>
          </a:p>
          <a:p>
            <a:r>
              <a:rPr sz="1300" b="0">
                <a:solidFill>
                  <a:srgbClr val="FFFFFF"/>
                </a:solidFill>
                <a:latin typeface="Arial"/>
              </a:rPr>
              <a:t>com foco em engenharia de dados</a:t>
            </a:r>
          </a:p>
        </p:txBody>
      </p:sp>
      <p:sp>
        <p:nvSpPr>
          <p:cNvPr id="9" name="MainTitle">
            <a:extLst>
              <a:ext uri="{FF2B5EF4-FFF2-40B4-BE49-F238E27FC236}">
                <a16:creationId xmlns:a16="http://schemas.microsoft.com/office/drawing/2014/main" id="{E13429DD-7708-C4B2-04F6-88B9AC616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solidFill>
                  <a:srgbClr val="FFFFFF"/>
                </a:solidFill>
                <a:latin typeface="Georgia"/>
              </a:rPr>
              <a:t>Boas práticas no</a:t>
            </a:r>
          </a:p>
          <a:p>
            <a:r>
              <a:rPr sz="3400" b="1">
                <a:solidFill>
                  <a:srgbClr val="FFFFFF"/>
                </a:solidFill>
                <a:latin typeface="Georgia"/>
              </a:rPr>
              <a:t>uso de IA</a:t>
            </a:r>
          </a:p>
        </p:txBody>
      </p:sp>
    </p:spTree>
    <p:extLst>
      <p:ext uri="{BB962C8B-B14F-4D97-AF65-F5344CB8AC3E}">
        <p14:creationId xmlns:p14="http://schemas.microsoft.com/office/powerpoint/2010/main" val="969055118"/>
      </p:ext>
    </p:extLst>
  </p:cSld>
  <p:clrMapOvr>
    <a:masterClrMapping/>
  </p:clrMapOvr>
</p:sld>
</file>

<file path=ppt/theme/theme1.xml><?xml version="1.0" encoding="utf-8"?>
<a:theme xmlns:a="http://schemas.openxmlformats.org/drawingml/2006/main" name="Covers - Full Image Background">
  <a:themeElements>
    <a:clrScheme name="NTT DATA Colors 1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0072B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00FF"/>
      </a:hlink>
      <a:folHlink>
        <a:srgbClr val="0000FF"/>
      </a:folHlink>
    </a:clrScheme>
    <a:fontScheme name="NTT_DATA_Arial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solidFill>
            <a:schemeClr val="accent2"/>
          </a:solidFill>
        </a:ln>
      </a:spPr>
      <a:bodyPr lIns="108000" tIns="72000" rIns="108000" bIns="72000" rtlCol="0" anchor="ctr"/>
      <a:lstStyle>
        <a:defPPr algn="ctr">
          <a:lnSpc>
            <a:spcPct val="110000"/>
          </a:lnSpc>
          <a:spcBef>
            <a:spcPts val="600"/>
          </a:spcBef>
          <a:defRPr sz="20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>
        <a:noAutofit/>
      </a:bodyPr>
      <a:lstStyle>
        <a:defPPr algn="l">
          <a:defRPr dirty="0"/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6BFB1022-CB34-4B15-9F3B-8B01968DD371}"/>
    </a:ext>
  </a:extLst>
</a:theme>
</file>

<file path=ppt/theme/theme2.xml><?xml version="1.0" encoding="utf-8"?>
<a:theme xmlns:a="http://schemas.openxmlformats.org/drawingml/2006/main" name="Light Covers - Partial Imag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rgbClr val="2E404D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09C1F4FE-3D3D-4E4E-8AC5-C5D92DFDEA59}"/>
    </a:ext>
  </a:extLst>
</a:theme>
</file>

<file path=ppt/theme/theme3.xml><?xml version="1.0" encoding="utf-8"?>
<a:theme xmlns:a="http://schemas.openxmlformats.org/drawingml/2006/main" name="Light Covers - No Imag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tIns="45720" bIns="45720" rtlCol="0">
        <a:noAutofit/>
      </a:bodyPr>
      <a:lstStyle>
        <a:defPPr algn="l">
          <a:defRPr dirty="0" smtClean="0">
            <a:solidFill>
              <a:srgbClr val="2E404D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71B2DA3E-2DF6-4D01-A20C-E263381081DA}"/>
    </a:ext>
  </a:extLst>
</a:theme>
</file>

<file path=ppt/theme/theme4.xml><?xml version="1.0" encoding="utf-8"?>
<a:theme xmlns:a="http://schemas.openxmlformats.org/drawingml/2006/main" name="Light Body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C146F23E-B709-4B2D-9758-8EB4940147ED}"/>
    </a:ext>
  </a:extLst>
</a:theme>
</file>

<file path=ppt/theme/theme5.xml><?xml version="1.0" encoding="utf-8"?>
<a:theme xmlns:a="http://schemas.openxmlformats.org/drawingml/2006/main" name="Light Body Slides - Small Title, Large Subtitl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8B19F434-353F-47FF-A1F7-53A0C457C0DD}"/>
    </a:ext>
  </a:extLst>
</a:theme>
</file>

<file path=ppt/theme/theme6.xml><?xml version="1.0" encoding="utf-8"?>
<a:theme xmlns:a="http://schemas.openxmlformats.org/drawingml/2006/main" name="Light Divider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tIns="45720" bIns="45720" rtlCol="0">
        <a:no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A3869863-12B1-475A-82A5-128864B9801C}"/>
    </a:ext>
  </a:extLst>
</a:theme>
</file>

<file path=ppt/theme/theme7.xml><?xml version="1.0" encoding="utf-8"?>
<a:theme xmlns:a="http://schemas.openxmlformats.org/drawingml/2006/main" name="Light Blank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FE3E34BB-CC1C-46A6-8772-D6CF53A3F2E1}"/>
    </a:ext>
  </a:extLst>
</a:theme>
</file>

<file path=ppt/theme/theme8.xml><?xml version="1.0" encoding="utf-8"?>
<a:theme xmlns:a="http://schemas.openxmlformats.org/drawingml/2006/main" name="Dark Covers - Partial Imag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C35056FF-E0F1-46A4-9DF3-6BEF71C59CA6}"/>
    </a:ext>
  </a:extLst>
</a:theme>
</file>

<file path=ppt/theme/theme9.xml><?xml version="1.0" encoding="utf-8"?>
<a:theme xmlns:a="http://schemas.openxmlformats.org/drawingml/2006/main" name="Dark Covers - No Imag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3731407F-107C-4663-813D-98F86288AD69}"/>
    </a:ext>
  </a:extLst>
</a:theme>
</file>

<file path=ppt/theme/theme10.xml><?xml version="1.0" encoding="utf-8"?>
<a:theme xmlns:a="http://schemas.openxmlformats.org/drawingml/2006/main" name="Dark Body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noAutofit/>
      </a:bodyPr>
      <a:lstStyle>
        <a:defPPr algn="l">
          <a:defRPr dirty="0" smtClean="0">
            <a:solidFill>
              <a:schemeClr val="tx1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DF55F6E1-085B-4372-BEEA-3BBE8693FD70}"/>
    </a:ext>
  </a:extLst>
</a:theme>
</file>

<file path=ppt/theme/theme11.xml><?xml version="1.0" encoding="utf-8"?>
<a:theme xmlns:a="http://schemas.openxmlformats.org/drawingml/2006/main" name="Dark Body Slides - Small Title, Large Subtitl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912F9BCC-81CE-43FF-90FC-1CF8A50309CA}"/>
    </a:ext>
  </a:extLst>
</a:theme>
</file>

<file path=ppt/theme/theme12.xml><?xml version="1.0" encoding="utf-8"?>
<a:theme xmlns:a="http://schemas.openxmlformats.org/drawingml/2006/main" name="Dark Divider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tIns="45720" bIns="45720" rtlCol="0">
        <a:noAutofit/>
      </a:bodyPr>
      <a:lstStyle>
        <a:defPPr algn="l">
          <a:defRPr dirty="0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A8A71081-93CE-480B-AFBD-21CACF4C03BA}"/>
    </a:ext>
  </a:extLst>
</a:theme>
</file>

<file path=ppt/theme/theme13.xml><?xml version="1.0" encoding="utf-8"?>
<a:theme xmlns:a="http://schemas.openxmlformats.org/drawingml/2006/main" name="Dark Blank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C6E35258-F3D7-4B2E-B75B-EFF826EED1C0}"/>
    </a:ext>
  </a:extLst>
</a:theme>
</file>

<file path=ppt/theme/theme14.xml><?xml version="1.0" encoding="utf-8"?>
<a:theme xmlns:a="http://schemas.openxmlformats.org/drawingml/2006/main" name="1_Back Covers">
  <a:themeElements>
    <a:clrScheme name="NTT DATA Colors 1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0072B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00FF"/>
      </a:hlink>
      <a:folHlink>
        <a:srgbClr val="0000FF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 cap="rnd">
          <a:solidFill>
            <a:schemeClr val="tx1">
              <a:lumMod val="50000"/>
            </a:schemeClr>
          </a:solidFill>
          <a:round/>
        </a:ln>
      </a:spPr>
      <a:bodyPr rtlCol="0" anchor="ctr"/>
      <a:lstStyle>
        <a:defPPr algn="ctr">
          <a:defRPr sz="1800"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noAutofit/>
      </a:bodyPr>
      <a:lstStyle>
        <a:defPPr algn="l">
          <a:defRPr dirty="0" err="1" smtClean="0">
            <a:solidFill>
              <a:srgbClr val="2E404D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DB1D71C7-A2A5-436F-AEBF-D0FAA4B45808}"/>
    </a:ext>
  </a:extLst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T2K" ma:contentTypeID="0x01010040A11AC9A095403B86EC8B98C09708A300B18DC44D3AD07641A07CA18912D9B9CC" ma:contentTypeVersion="13" ma:contentTypeDescription="Create a new document." ma:contentTypeScope="" ma:versionID="bc855f56509cf97448165319407d5802">
  <xsd:schema xmlns:xsd="http://www.w3.org/2001/XMLSchema" xmlns:xs="http://www.w3.org/2001/XMLSchema" xmlns:p="http://schemas.microsoft.com/office/2006/metadata/properties" xmlns:ns1="http://schemas.microsoft.com/sharepoint/v3" xmlns:ns2="e8cafdd4-4528-4476-ab16-00a5750ab81c" xmlns:ns3="f9e5c6ed-a414-487d-8643-813a0aafc40d" targetNamespace="http://schemas.microsoft.com/office/2006/metadata/properties" ma:root="true" ma:fieldsID="73c0290f8439e5b6358291f0f886d336" ns1:_="" ns2:_="" ns3:_="">
    <xsd:import namespace="http://schemas.microsoft.com/sharepoint/v3"/>
    <xsd:import namespace="e8cafdd4-4528-4476-ab16-00a5750ab81c"/>
    <xsd:import namespace="f9e5c6ed-a414-487d-8643-813a0aafc40d"/>
    <xsd:element name="properties">
      <xsd:complexType>
        <xsd:sequence>
          <xsd:element name="documentManagement">
            <xsd:complexType>
              <xsd:all>
                <xsd:element ref="ns2:abe66603087445669b8b2920ee71eaef" minOccurs="0"/>
                <xsd:element ref="ns2:TaxCatchAll" minOccurs="0"/>
                <xsd:element ref="ns2:TaxCatchAllLabel" minOccurs="0"/>
                <xsd:element ref="ns2:fa99d158c7f14474ab98801009d80b56" minOccurs="0"/>
                <xsd:element ref="ns2:TogoImageUrl" minOccurs="0"/>
                <xsd:element ref="ns2:TogoHighlight" minOccurs="0"/>
                <xsd:element ref="ns2:TogoAuthor" minOccurs="0"/>
                <xsd:element ref="ns2:gd3a7737cb0047dc8ce44bed1647af23" minOccurs="0"/>
                <xsd:element ref="ns2:n63ae9402be240f1a4937184116f6bcc" minOccurs="0"/>
                <xsd:element ref="ns2:TogoPublishingDate" minOccurs="0"/>
                <xsd:element ref="ns2:TogoDueDate" minOccurs="0"/>
                <xsd:element ref="ns3:lcf76f155ced4ddcb4097134ff3c332f" minOccurs="0"/>
                <xsd:element ref="ns1:_SPIsTranslation" minOccurs="0"/>
                <xsd:element ref="ns1:_SPTranslatedLanguages" minOccurs="0"/>
                <xsd:element ref="ns1:_SPTranslationSourceItemId" minOccurs="0"/>
                <xsd:element ref="ns1:_SPTranslationLanguag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SPIsTranslation" ma:index="24" nillable="true" ma:displayName="Translation" ma:default="FALSE" ma:description="This item is a translation" ma:internalName="_SPIsTranslation" ma:readOnly="true">
      <xsd:simpleType>
        <xsd:restriction base="dms:Boolean"/>
      </xsd:simpleType>
    </xsd:element>
    <xsd:element name="_SPTranslatedLanguages" ma:index="25" nillable="true" ma:displayName="Translation languages" ma:description="Languages that this item has been or is being translated into" ma:internalName="_SPTranslatedLanguages" ma:readOnly="true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r-SA"/>
                    <xsd:enumeration value="az-Latn-AZ"/>
                    <xsd:enumeration value="bg-BG"/>
                    <xsd:enumeration value="bs-Latn-BA"/>
                    <xsd:enumeration value="ca-ES"/>
                    <xsd:enumeration value="cs-CZ"/>
                    <xsd:enumeration value="cy-GB"/>
                    <xsd:enumeration value="da-DK"/>
                    <xsd:enumeration value="de-DE"/>
                    <xsd:enumeration value="el-GR"/>
                    <xsd:enumeration value="en-US"/>
                    <xsd:enumeration value="es-ES"/>
                    <xsd:enumeration value="et-EE"/>
                    <xsd:enumeration value="eu-ES"/>
                    <xsd:enumeration value="fi-FI"/>
                    <xsd:enumeration value="fr-FR"/>
                    <xsd:enumeration value="ga-IE"/>
                    <xsd:enumeration value="gl-ES"/>
                    <xsd:enumeration value="he-IL"/>
                    <xsd:enumeration value="hi-IN"/>
                    <xsd:enumeration value="hr-HR"/>
                    <xsd:enumeration value="hu-HU"/>
                    <xsd:enumeration value="id-ID"/>
                    <xsd:enumeration value="it-IT"/>
                    <xsd:enumeration value="ja-JP"/>
                    <xsd:enumeration value="kk-KZ"/>
                    <xsd:enumeration value="ko-KR"/>
                    <xsd:enumeration value="lt-LT"/>
                    <xsd:enumeration value="lv-LV"/>
                    <xsd:enumeration value="mk-MK"/>
                    <xsd:enumeration value="ms-MY"/>
                    <xsd:enumeration value="nb-NO"/>
                    <xsd:enumeration value="nl-NL"/>
                    <xsd:enumeration value="pl-PL"/>
                    <xsd:enumeration value="prs-AF"/>
                    <xsd:enumeration value="pt-BR"/>
                    <xsd:enumeration value="pt-PT"/>
                    <xsd:enumeration value="ro-RO"/>
                    <xsd:enumeration value="ru-RU"/>
                    <xsd:enumeration value="sk-SK"/>
                    <xsd:enumeration value="sl-SI"/>
                    <xsd:enumeration value="sr-Cyrl-RS"/>
                    <xsd:enumeration value="sr-Latn-CS"/>
                    <xsd:enumeration value="sr-Latn-RS"/>
                    <xsd:enumeration value="sv-SE"/>
                    <xsd:enumeration value="th-TH"/>
                    <xsd:enumeration value="tr-TR"/>
                    <xsd:enumeration value="uk-UA"/>
                    <xsd:enumeration value="vi-VN"/>
                    <xsd:enumeration value="zh-CN"/>
                    <xsd:enumeration value="zh-TW"/>
                  </xsd:restriction>
                </xsd:simpleType>
              </xsd:element>
            </xsd:sequence>
          </xsd:extension>
        </xsd:complexContent>
      </xsd:complexType>
    </xsd:element>
    <xsd:element name="_SPTranslationSourceItemId" ma:index="26" nillable="true" ma:displayName="Translation Source ID" ma:description="Unique ID of the item this translation is based on" ma:internalName="_SPTranslationSourceItemId" ma:readOnly="true">
      <xsd:simpleType>
        <xsd:restriction base="dms:Unknown"/>
      </xsd:simpleType>
    </xsd:element>
    <xsd:element name="_SPTranslationLanguage" ma:index="27" nillable="true" ma:displayName="Item Language" ma:description="Language of this item" ma:internalName="_SPTranslationLanguage" ma:readOnly="true">
      <xsd:simpleType>
        <xsd:restriction base="dms:Choice">
          <xsd:enumeration value="ar-SA"/>
          <xsd:enumeration value="az-Latn-AZ"/>
          <xsd:enumeration value="bg-BG"/>
          <xsd:enumeration value="bs-Latn-BA"/>
          <xsd:enumeration value="ca-ES"/>
          <xsd:enumeration value="cs-CZ"/>
          <xsd:enumeration value="cy-GB"/>
          <xsd:enumeration value="da-DK"/>
          <xsd:enumeration value="de-DE"/>
          <xsd:enumeration value="el-GR"/>
          <xsd:enumeration value="en-US"/>
          <xsd:enumeration value="es-ES"/>
          <xsd:enumeration value="et-EE"/>
          <xsd:enumeration value="eu-ES"/>
          <xsd:enumeration value="fi-FI"/>
          <xsd:enumeration value="fr-FR"/>
          <xsd:enumeration value="ga-IE"/>
          <xsd:enumeration value="gl-ES"/>
          <xsd:enumeration value="he-IL"/>
          <xsd:enumeration value="hi-IN"/>
          <xsd:enumeration value="hr-HR"/>
          <xsd:enumeration value="hu-HU"/>
          <xsd:enumeration value="id-ID"/>
          <xsd:enumeration value="it-IT"/>
          <xsd:enumeration value="ja-JP"/>
          <xsd:enumeration value="kk-KZ"/>
          <xsd:enumeration value="ko-KR"/>
          <xsd:enumeration value="lt-LT"/>
          <xsd:enumeration value="lv-LV"/>
          <xsd:enumeration value="mk-MK"/>
          <xsd:enumeration value="ms-MY"/>
          <xsd:enumeration value="nb-NO"/>
          <xsd:enumeration value="nl-NL"/>
          <xsd:enumeration value="pl-PL"/>
          <xsd:enumeration value="prs-AF"/>
          <xsd:enumeration value="pt-BR"/>
          <xsd:enumeration value="pt-PT"/>
          <xsd:enumeration value="ro-RO"/>
          <xsd:enumeration value="ru-RU"/>
          <xsd:enumeration value="sk-SK"/>
          <xsd:enumeration value="sl-SI"/>
          <xsd:enumeration value="sr-Cyrl-RS"/>
          <xsd:enumeration value="sr-Latn-CS"/>
          <xsd:enumeration value="sr-Latn-RS"/>
          <xsd:enumeration value="sv-SE"/>
          <xsd:enumeration value="th-TH"/>
          <xsd:enumeration value="tr-TR"/>
          <xsd:enumeration value="uk-UA"/>
          <xsd:enumeration value="vi-VN"/>
          <xsd:enumeration value="zh-CN"/>
          <xsd:enumeration value="zh-TW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cafdd4-4528-4476-ab16-00a5750ab81c" elementFormDefault="qualified">
    <xsd:import namespace="http://schemas.microsoft.com/office/2006/documentManagement/types"/>
    <xsd:import namespace="http://schemas.microsoft.com/office/infopath/2007/PartnerControls"/>
    <xsd:element name="abe66603087445669b8b2920ee71eaef" ma:index="8" nillable="true" ma:taxonomy="true" ma:internalName="abe66603087445669b8b2920ee71eaef" ma:taxonomyFieldName="T2KCategory" ma:displayName="T2K Category" ma:fieldId="{abe66603-0874-4566-9b8b-2920ee71eaef}" ma:sspId="d85e823d-31db-440c-980d-283f89df7c2e" ma:termSetId="5fcb34d7-7469-453f-8c23-50fd6054164d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TaxCatchAll" ma:index="9" nillable="true" ma:displayName="Taxonomy Catch All Column" ma:hidden="true" ma:list="{db4c08cc-285d-47fa-b22a-fb27dfa68643}" ma:internalName="TaxCatchAll" ma:showField="CatchAllData" ma:web="e8cafdd4-4528-4476-ab16-00a5750ab81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0" nillable="true" ma:displayName="Taxonomy Catch All Column1" ma:hidden="true" ma:list="{db4c08cc-285d-47fa-b22a-fb27dfa68643}" ma:internalName="TaxCatchAllLabel" ma:readOnly="true" ma:showField="CatchAllDataLabel" ma:web="e8cafdd4-4528-4476-ab16-00a5750ab81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fa99d158c7f14474ab98801009d80b56" ma:index="12" nillable="true" ma:taxonomy="true" ma:internalName="fa99d158c7f14474ab98801009d80b56" ma:taxonomyFieldName="TogoTags" ma:displayName="Tags" ma:fieldId="{fa99d158-c7f1-4474-ab98-801009d80b56}" ma:taxonomyMulti="true" ma:sspId="d85e823d-31db-440c-980d-283f89df7c2e" ma:termSetId="8ed7ce38-efb7-4d06-97ea-c211d216cdc7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TogoImageUrl" ma:index="14" nillable="true" ma:displayName="Image URL" ma:default="" ma:description="Image URL" ma:internalName="TogoImageUrl">
      <xsd:simpleType>
        <xsd:restriction base="dms:Note"/>
      </xsd:simpleType>
    </xsd:element>
    <xsd:element name="TogoHighlight" ma:index="15" nillable="true" ma:displayName="Highlight" ma:default="False" ma:description="Highlight" ma:internalName="TogoHighlight">
      <xsd:simpleType>
        <xsd:restriction base="dms:Boolean"/>
      </xsd:simpleType>
    </xsd:element>
    <xsd:element name="TogoAuthor" ma:index="16" nillable="true" ma:displayName="Author" ma:default="" ma:description="Author" ma:list="UserInfo" ma:internalName="TogoAutho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gd3a7737cb0047dc8ce44bed1647af23" ma:index="17" nillable="true" ma:taxonomy="true" ma:internalName="gd3a7737cb0047dc8ce44bed1647af23" ma:taxonomyFieldName="TogoLocations" ma:displayName="Locations" ma:fieldId="{0d3a7737-cb00-47dc-8ce4-4bed1647af23}" ma:taxonomyMulti="true" ma:sspId="d85e823d-31db-440c-980d-283f89df7c2e" ma:termSetId="b49f64b3-4722-4336-9a5c-56c326b344d4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n63ae9402be240f1a4937184116f6bcc" ma:index="19" nillable="true" ma:taxonomy="true" ma:internalName="n63ae9402be240f1a4937184116f6bcc" ma:taxonomyFieldName="TogoDepartments" ma:displayName="Departments" ma:fieldId="{763ae940-2be2-40f1-a493-7184116f6bcc}" ma:taxonomyMulti="true" ma:sspId="d85e823d-31db-440c-980d-283f89df7c2e" ma:termSetId="8ed8c9ea-7052-4c1d-a4d7-b9c10bffea6f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TogoPublishingDate" ma:index="21" nillable="true" ma:displayName="Publishing Date" ma:default="" ma:description="Publishing Date" ma:internalName="TogoPublishingDate">
      <xsd:simpleType>
        <xsd:restriction base="dms:DateTime"/>
      </xsd:simpleType>
    </xsd:element>
    <xsd:element name="TogoDueDate" ma:index="22" nillable="true" ma:displayName="Due Date" ma:default="2099-12-31T00:00:00Z" ma:description="Due Date" ma:internalName="TogoDueDate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e5c6ed-a414-487d-8643-813a0aafc40d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23" nillable="true" ma:displayName="Image Tags_0" ma:hidden="true" ma:internalName="lcf76f155ced4ddcb4097134ff3c332f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8cafdd4-4528-4476-ab16-00a5750ab81c">
      <Value>3</Value>
    </TaxCatchAll>
    <TogoDueDate xmlns="e8cafdd4-4528-4476-ab16-00a5750ab81c">2099-12-31T00:00:00+00:00</TogoDueDate>
    <gd3a7737cb0047dc8ce44bed1647af23 xmlns="e8cafdd4-4528-4476-ab16-00a5750ab81c">
      <Terms xmlns="http://schemas.microsoft.com/office/infopath/2007/PartnerControls"/>
    </gd3a7737cb0047dc8ce44bed1647af23>
    <lcf76f155ced4ddcb4097134ff3c332f xmlns="f9e5c6ed-a414-487d-8643-813a0aafc40d" xsi:nil="true"/>
    <TogoImageUrl xmlns="e8cafdd4-4528-4476-ab16-00a5750ab81c" xsi:nil="true"/>
    <TogoHighlight xmlns="e8cafdd4-4528-4476-ab16-00a5750ab81c">false</TogoHighlight>
    <TogoPublishingDate xmlns="e8cafdd4-4528-4476-ab16-00a5750ab81c" xsi:nil="true"/>
    <TogoAuthor xmlns="e8cafdd4-4528-4476-ab16-00a5750ab81c">
      <UserInfo>
        <DisplayName/>
        <AccountId xsi:nil="true"/>
        <AccountType/>
      </UserInfo>
    </TogoAuthor>
    <fa99d158c7f14474ab98801009d80b56 xmlns="e8cafdd4-4528-4476-ab16-00a5750ab81c">
      <Terms xmlns="http://schemas.microsoft.com/office/infopath/2007/PartnerControls"/>
    </fa99d158c7f14474ab98801009d80b56>
    <n63ae9402be240f1a4937184116f6bcc xmlns="e8cafdd4-4528-4476-ab16-00a5750ab81c">
      <Terms xmlns="http://schemas.microsoft.com/office/infopath/2007/PartnerControls"/>
    </n63ae9402be240f1a4937184116f6bcc>
    <abe66603087445669b8b2920ee71eaef xmlns="e8cafdd4-4528-4476-ab16-00a5750ab81c">
      <Terms xmlns="http://schemas.microsoft.com/office/infopath/2007/PartnerControls">
        <TermInfo xmlns="http://schemas.microsoft.com/office/infopath/2007/PartnerControls">
          <TermName xmlns="http://schemas.microsoft.com/office/infopath/2007/PartnerControls">Brand</TermName>
          <TermId xmlns="http://schemas.microsoft.com/office/infopath/2007/PartnerControls">832b67cf-1f4d-4e03-97fa-b9a01cdb780b</TermId>
        </TermInfo>
      </Terms>
    </abe66603087445669b8b2920ee71eaef>
  </documentManagement>
</p:properties>
</file>

<file path=customXml/itemProps1.xml><?xml version="1.0" encoding="utf-8"?>
<ds:datastoreItem xmlns:ds="http://schemas.openxmlformats.org/officeDocument/2006/customXml" ds:itemID="{6033E4B9-9001-496F-B443-3F250238E3F5}"/>
</file>

<file path=customXml/itemProps2.xml><?xml version="1.0" encoding="utf-8"?>
<ds:datastoreItem xmlns:ds="http://schemas.openxmlformats.org/officeDocument/2006/customXml" ds:itemID="{29F7DB07-14FD-4CA6-A860-9732C662872E}"/>
</file>

<file path=customXml/itemProps3.xml><?xml version="1.0" encoding="utf-8"?>
<ds:datastoreItem xmlns:ds="http://schemas.openxmlformats.org/officeDocument/2006/customXml" ds:itemID="{65D16A3C-7493-4719-BC77-C48207EAD7F6}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909</Words>
  <Application>Microsoft Office PowerPoint</Application>
  <PresentationFormat>Widescreen</PresentationFormat>
  <Paragraphs>296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14</vt:i4>
      </vt:variant>
      <vt:variant>
        <vt:lpstr>Slide Titles</vt:lpstr>
      </vt:variant>
      <vt:variant>
        <vt:i4>9</vt:i4>
      </vt:variant>
    </vt:vector>
  </HeadingPairs>
  <TitlesOfParts>
    <vt:vector size="25" baseType="lpstr">
      <vt:lpstr>Arial</vt:lpstr>
      <vt:lpstr>Georgia</vt:lpstr>
      <vt:lpstr>Covers - Full Image Background</vt:lpstr>
      <vt:lpstr>Light Covers - Partial Images</vt:lpstr>
      <vt:lpstr>Light Covers - No Image</vt:lpstr>
      <vt:lpstr>Light Body Slides</vt:lpstr>
      <vt:lpstr>Light Body Slides - Small Title, Large Subtitle</vt:lpstr>
      <vt:lpstr>Light Dividers</vt:lpstr>
      <vt:lpstr>Light Blank Slides</vt:lpstr>
      <vt:lpstr>Dark Covers - Partial Images</vt:lpstr>
      <vt:lpstr>Dark Covers - No Image</vt:lpstr>
      <vt:lpstr>Dark Body Slides</vt:lpstr>
      <vt:lpstr>Dark Body Slides - Small Title, Large Subtitle</vt:lpstr>
      <vt:lpstr>Dark Dividers</vt:lpstr>
      <vt:lpstr>Dark Blank Slides</vt:lpstr>
      <vt:lpstr>1_Back Covers</vt:lpstr>
      <vt:lpstr>PowerPoint Presentation</vt:lpstr>
      <vt:lpstr>Cover Slide Example 1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Jayson Thompson</dc:creator>
  <cp:keywords>NTT DATA, Inc.;PowerPoint Template</cp:keywords>
  <cp:lastModifiedBy>Jayson Thompson</cp:lastModifiedBy>
  <cp:revision>1</cp:revision>
  <dcterms:created xsi:type="dcterms:W3CDTF">2026-01-05T12:01:22Z</dcterms:created>
  <dcterms:modified xsi:type="dcterms:W3CDTF">2026-01-05T12:02:56Z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0x01010040A11AC9A095403B86EC8B98C09708A300B18DC44D3AD07641A07CA18912D9B9CC</vt:lpwstr>
  </property>
  <property fmtid="{D5CDD505-2E9C-101B-9397-08002B2CF9AE}" pid="3" name="T2KCategory">
    <vt:lpwstr>3;#Brand|832b67cf-1f4d-4e03-97fa-b9a01cdb780b</vt:lpwstr>
  </property>
  <property fmtid="{D5CDD505-2E9C-101B-9397-08002B2CF9AE}" pid="4" name="TogoLocations">
    <vt:lpwstr/>
  </property>
  <property fmtid="{D5CDD505-2E9C-101B-9397-08002B2CF9AE}" pid="5" name="MediaServiceImageTags">
    <vt:lpwstr/>
  </property>
  <property fmtid="{D5CDD505-2E9C-101B-9397-08002B2CF9AE}" pid="7" name="TogoDepartments">
    <vt:lpwstr/>
  </property>
  <property fmtid="{D5CDD505-2E9C-101B-9397-08002B2CF9AE}" pid="8" name="TogoDocumentsCategory">
    <vt:lpwstr/>
  </property>
  <property fmtid="{D5CDD505-2E9C-101B-9397-08002B2CF9AE}" pid="9" name="TogoTags">
    <vt:lpwstr/>
  </property>
  <property fmtid="{D5CDD505-2E9C-101B-9397-08002B2CF9AE}" pid="10" name="a01feae194714aa882aedc460c3c0dc2">
    <vt:lpwstr/>
  </property>
</Properties>
</file>